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[your name], and along with my teammates Shubh Shekhar Jha, Anchal Paswan, and Karma, I'll be presenting our project: the Subscription Leak Detector. In one line, this is an AI and machine learning powered system that reads a person's bank statement and automatically finds recurring subscriptions they may have forgotten about, or are paying more for than they realize. Over the next few minutes we'll walk through the problem we're solving, why it matters right now, what research already exists, where the gaps are, and exactly how we plan to build this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If you've ever looked at your bank statement, you'll notice transaction descriptions are messy and inconsistent — the same Netflix subscription might appear under three different text formats across different months. Second, a bank statement is just a flat, chronological list. There is no built-in way to see which charges are recurring versus one-time purchases. Third, even popular budgeting apps only show you total spending by category — they don't tell you 'hey, you're paying for Disney+ but haven't opened it in four months,' or 'your gym membership went up by 15% and you didn't notice.' So the core question our project tackles is simple to ask but genuinely hard to answer today: which of my subscriptions am I wasting money on, and how would I even find out without manually going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hypothetical problem — it's happening at scale right now. Recent 2025-2026 survey data shows 42% of consumers have forgotten about a subscription entirely while still being charged for it. Collectively, Americans waste over 15 and a half billion dollars a year on forgotten subscriptions. On a personal level that works out to about 127 dollars per person per year, just quietly leaking away. Perhaps most striking: 89% of people underestimate their own subscription spending, some by more than 200 dollars a month. And this problem is only growing — the global subscription economy is projected to jump from roughly 536 billion dollars in 2025 to 859 billion dollars in 2026. As more of our spending shifts to subscription models, the need for a tool like ours becomes more urgent,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reviewed six recent papers spanning three areas: bank transaction classification, subscription churn prediction, and financial anomaly detection. I'll highlight the five most relevant here. Toran and colleagues in 2023 showed that weak supervision and NLP can classify messy bank transaction text without needing large labeled datasets — useful, but they stop at general categorization, not recurrence detection. Aluffi's 2025 paper used synthetic data to train classifiers for business transactions, but it's aimed at SMEs, not personal consumer subscriptions. Two papers from 2025 and 2026 focus on churn and risk prediction with explainability, but both are built from the subscription provider's side, not from the consumer's own bank statement. And García-Méndez's SVM-based classifier handles short, cryptic transaction text well, but again, only for general spending categories, with no concept of price creep over time. So across the board, existing work solves pieces of this puzzle, but nobody puts them together for the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take away from all this research? On the left, four key insights: lightweight NLP and fuzzy matching work well for cleaning transaction text; simple statistical methods can detect recurring patterns without heavy deep learning; explainability builds user trust; and feedback loops improve accuracy over time. On the right is the gap no single existing system fills: nobody combines merchant resolution, recurrence detection, silent price-increase tracking, explainable risk scoring, and an interactive savings simulator into one consumer-facing tool built entirely from a person's own bank statement. That gap is exactly what our project, Subscription Leak Detector, is designed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five objectives are straightforward: automatically detect recurring subscriptions, clean up messy merchant names, track price increases over time, generate explainable risk scores, and let users simulate savings from cancelling subscriptions. On the right is our proposed system architecture. The user uploads a CSV bank statement through the frontend, which hits our Django REST API. The API passes the data through our ML pipeline — which cleans the text, clusters similar merchants together, detects recurrence patterns, and scores risk. Everything is stored in a MySQL database, and results flow into an interactive dashboard where users see their subscriptions, price history, and can run the savings simulator. It's a clean, modular pipeline where each stage does one job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technology stack, layer by layer. On the frontend we're using standard HTML, CSS, and JavaScript with Chart.js for the price-history and savings visualizations — keeping it lightweight rather than pulling in a heavy framework. The backend runs on Python with Django and Django REST Framework, which gives us authentication, the REST API, and a clean place to orchestrate the ML pipeline. Data lives in MySQL, managed through MySQL Workbench. The ML and NLP pipeline itself uses Pandas for data handling, RapidFuzz for fuzzy string matching during merchant resolution, and Scikit-learn for the risk-scoring model. Before any of that goes into Django, we prototype and test it in Jupyter Notebooks. And for development, we're using VS Code with Git and GitHub for version control and collaboration across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proposed methodology as a five-step pipeline. Step one: we ingest the uploaded CSV and clean the merchant text — lowercasing, stripping trailing IDs and location codes. Step two is merchant entity resolution: using fuzzy string matching, we cluster different spellings of the same merchant into one canonical entity. Step three is recurrence detection: we statistically check whether charges from a merchant repeat at consistent intervals with stable amounts. Step four generates an explainable risk score — not just a binary 'cancel this' flag, but a confidence percentage with a human-readable reason. Finally, step five is the dashboard and feedback loop — users confirm or correct our flags, and that feedback retrains and improves the risk model over time. Each stage is deliberately kept independent and testable, which also made it easy to prototype each one separately in Jupyter before wiring it into Django.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know whether this system actually works, we've defined four measurable evaluation criteria. First, merchant clustering accuracy — we'll manually label a validation set and check that our fuzzy-matching correctly groups merchant name variants, targeting over 90% accuracy. Second, recurrence detection precision and recall, tested against a synthetic dataset where we already know the correct answers, targeting over 85% precision and 80% recall. Third, we'll measure how useful our risk scores actually are by tracking how often users agree with our flagged 'cancel candidates,' targeting at least 75% agreement. And fourth, usability — through task-based testing, we want a user to complete a core task, like reviewing their flagged subscriptions, in under two minutes. Since real bank statements are hard to source for a student project, our ground truth for recurrence detection comes from a synthetic data generator we're building ourselves, which lets us test against a known, verifiable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listening. To summarize — the Subscription Leak Detector combines NLP-based merchant resolution, statistical recurrence detection, explainable risk scoring, price-creep tracking, and an interactive savings simulator into one consumer-facing system, something no existing research or product fully does today. We're happy to take any questions — whether about our architecture, our evaluation plan, or the research gap we 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E"/>
        </a:solidFill>
      </p:bgPr>
    </p:bg>
    <p:spTree>
      <p:nvGrpSpPr>
        <p:cNvPr id="1" name=""/>
        <p:cNvGrpSpPr/>
        <p:nvPr/>
      </p:nvGrpSpPr>
      <p:grpSpPr>
        <a:xfrm>
          <a:off x="0" y="0"/>
          <a:ext cx="0" cy="0"/>
          <a:chOff x="0" y="0"/>
          <a:chExt cx="0" cy="0"/>
        </a:xfrm>
      </p:grpSpPr>
      <p:sp>
        <p:nvSpPr>
          <p:cNvPr id="2" name="Shape 0"/>
          <p:cNvSpPr/>
          <p:nvPr/>
        </p:nvSpPr>
        <p:spPr>
          <a:xfrm rot="1080000">
            <a:off x="8778240" y="-1371600"/>
            <a:ext cx="5029200" cy="10972800"/>
          </a:xfrm>
          <a:prstGeom prst="rect">
            <a:avLst/>
          </a:prstGeom>
          <a:solidFill>
            <a:srgbClr val="12514F"/>
          </a:solidFill>
          <a:ln/>
        </p:spPr>
      </p:sp>
      <p:sp>
        <p:nvSpPr>
          <p:cNvPr id="3" name="Shape 1"/>
          <p:cNvSpPr/>
          <p:nvPr/>
        </p:nvSpPr>
        <p:spPr>
          <a:xfrm>
            <a:off x="10698480" y="274320"/>
            <a:ext cx="320040" cy="320040"/>
          </a:xfrm>
          <a:prstGeom prst="ellipse">
            <a:avLst/>
          </a:prstGeom>
          <a:solidFill>
            <a:srgbClr val="F5A623"/>
          </a:solidFill>
          <a:ln/>
        </p:spPr>
      </p:sp>
      <p:sp>
        <p:nvSpPr>
          <p:cNvPr id="4" name="Shape 2"/>
          <p:cNvSpPr/>
          <p:nvPr/>
        </p:nvSpPr>
        <p:spPr>
          <a:xfrm>
            <a:off x="11292840" y="1005840"/>
            <a:ext cx="164592" cy="164592"/>
          </a:xfrm>
          <a:prstGeom prst="ellipse">
            <a:avLst/>
          </a:prstGeom>
          <a:solidFill>
            <a:srgbClr val="FFFFFF">
              <a:alpha val="60000"/>
            </a:srgbClr>
          </a:solidFill>
          <a:ln/>
        </p:spPr>
      </p:sp>
      <p:sp>
        <p:nvSpPr>
          <p:cNvPr id="5" name="Text 3"/>
          <p:cNvSpPr/>
          <p:nvPr/>
        </p:nvSpPr>
        <p:spPr>
          <a:xfrm>
            <a:off x="822960" y="685800"/>
            <a:ext cx="8229600" cy="548640"/>
          </a:xfrm>
          <a:prstGeom prst="rect">
            <a:avLst/>
          </a:prstGeom>
          <a:noFill/>
          <a:ln/>
        </p:spPr>
        <p:txBody>
          <a:bodyPr wrap="square" lIns="0" tIns="0" rIns="0" bIns="0" rtlCol="0" anchor="ctr"/>
          <a:lstStyle/>
          <a:p>
            <a:pPr indent="0" marL="0">
              <a:buNone/>
            </a:pPr>
            <a:r>
              <a:rPr lang="en-US" sz="2600" b="1" spc="100" kern="0" dirty="0">
                <a:solidFill>
                  <a:srgbClr val="FFFFFF"/>
                </a:solidFill>
                <a:latin typeface="Cambria" pitchFamily="34" charset="0"/>
                <a:ea typeface="Cambria" pitchFamily="34" charset="-122"/>
                <a:cs typeface="Cambria" pitchFamily="34" charset="-120"/>
              </a:rPr>
              <a:t>SYNOPSIS PRESENTATION</a:t>
            </a:r>
            <a:endParaRPr lang="en-US" sz="2600" dirty="0"/>
          </a:p>
        </p:txBody>
      </p:sp>
      <p:sp>
        <p:nvSpPr>
          <p:cNvPr id="6" name="Shape 4"/>
          <p:cNvSpPr/>
          <p:nvPr/>
        </p:nvSpPr>
        <p:spPr>
          <a:xfrm>
            <a:off x="868680" y="1325880"/>
            <a:ext cx="4846320" cy="0"/>
          </a:xfrm>
          <a:prstGeom prst="line">
            <a:avLst/>
          </a:prstGeom>
          <a:noFill/>
          <a:ln w="25400">
            <a:solidFill>
              <a:srgbClr val="F5A623"/>
            </a:solidFill>
            <a:prstDash val="solid"/>
          </a:ln>
        </p:spPr>
      </p:sp>
      <p:sp>
        <p:nvSpPr>
          <p:cNvPr id="7" name="Text 5"/>
          <p:cNvSpPr/>
          <p:nvPr/>
        </p:nvSpPr>
        <p:spPr>
          <a:xfrm>
            <a:off x="777240" y="2148840"/>
            <a:ext cx="914400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SUBSCRIPTION LEAK
</a:t>
            </a:r>
            <a:pPr indent="0" marL="0">
              <a:lnSpc>
                <a:spcPct val="105000"/>
              </a:lnSpc>
              <a:buNone/>
            </a:pPr>
            <a:r>
              <a:rPr lang="en-US" sz="4400" b="1" dirty="0">
                <a:solidFill>
                  <a:srgbClr val="F5A623"/>
                </a:solidFill>
                <a:latin typeface="Cambria" pitchFamily="34" charset="0"/>
                <a:ea typeface="Cambria" pitchFamily="34" charset="-122"/>
                <a:cs typeface="Cambria" pitchFamily="34" charset="-120"/>
              </a:rPr>
              <a:t>DETECTOR</a:t>
            </a:r>
            <a:endParaRPr lang="en-US" sz="4400" dirty="0"/>
          </a:p>
        </p:txBody>
      </p:sp>
      <p:sp>
        <p:nvSpPr>
          <p:cNvPr id="8" name="Text 6"/>
          <p:cNvSpPr/>
          <p:nvPr/>
        </p:nvSpPr>
        <p:spPr>
          <a:xfrm>
            <a:off x="822960" y="3703320"/>
            <a:ext cx="8046720" cy="457200"/>
          </a:xfrm>
          <a:prstGeom prst="rect">
            <a:avLst/>
          </a:prstGeom>
          <a:noFill/>
          <a:ln/>
        </p:spPr>
        <p:txBody>
          <a:bodyPr wrap="square" lIns="0" tIns="0" rIns="0" bIns="0" rtlCol="0" anchor="ctr"/>
          <a:lstStyle/>
          <a:p>
            <a:pPr indent="0" marL="0">
              <a:buNone/>
            </a:pPr>
            <a:r>
              <a:rPr lang="en-US" sz="1500" i="1" dirty="0">
                <a:solidFill>
                  <a:srgbClr val="B9DAD8"/>
                </a:solidFill>
                <a:latin typeface="Calibri" pitchFamily="34" charset="0"/>
                <a:ea typeface="Calibri" pitchFamily="34" charset="-122"/>
                <a:cs typeface="Calibri" pitchFamily="34" charset="-120"/>
              </a:rPr>
              <a:t>AI/ML-Powered Recurring Subscription Detection &amp; Financial Leak Analysis</a:t>
            </a:r>
            <a:endParaRPr lang="en-US" sz="1500" dirty="0"/>
          </a:p>
        </p:txBody>
      </p:sp>
      <p:sp>
        <p:nvSpPr>
          <p:cNvPr id="9" name="Text 7"/>
          <p:cNvSpPr/>
          <p:nvPr/>
        </p:nvSpPr>
        <p:spPr>
          <a:xfrm>
            <a:off x="822960" y="4892040"/>
            <a:ext cx="2743200" cy="274320"/>
          </a:xfrm>
          <a:prstGeom prst="rect">
            <a:avLst/>
          </a:prstGeom>
          <a:noFill/>
          <a:ln/>
        </p:spPr>
        <p:txBody>
          <a:bodyPr wrap="square" lIns="0" tIns="0" rIns="0" bIns="0" rtlCol="0" anchor="ctr"/>
          <a:lstStyle/>
          <a:p>
            <a:pPr indent="0" marL="0">
              <a:buNone/>
            </a:pPr>
            <a:r>
              <a:rPr lang="en-US" sz="1200" dirty="0">
                <a:solidFill>
                  <a:srgbClr val="B9DAD8"/>
                </a:solidFill>
                <a:latin typeface="Calibri" pitchFamily="34" charset="0"/>
                <a:ea typeface="Calibri" pitchFamily="34" charset="-122"/>
                <a:cs typeface="Calibri" pitchFamily="34" charset="-120"/>
              </a:rPr>
              <a:t>TEAM -</a:t>
            </a:r>
            <a:endParaRPr lang="en-US" sz="1200" dirty="0"/>
          </a:p>
        </p:txBody>
      </p:sp>
      <p:sp>
        <p:nvSpPr>
          <p:cNvPr id="10" name="Text 8"/>
          <p:cNvSpPr/>
          <p:nvPr/>
        </p:nvSpPr>
        <p:spPr>
          <a:xfrm>
            <a:off x="822960" y="5166360"/>
            <a:ext cx="5486400" cy="914400"/>
          </a:xfrm>
          <a:prstGeom prst="rect">
            <a:avLst/>
          </a:prstGeom>
          <a:noFill/>
          <a:ln/>
        </p:spPr>
        <p:txBody>
          <a:bodyPr wrap="square" lIns="0" tIns="0" rIns="0" bIns="0" rtlCol="0" anchor="ctr"/>
          <a:lstStyle/>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Shubh Shekhar Jha : 02096303123</a:t>
            </a:r>
            <a:endParaRPr lang="en-US" sz="1300" dirty="0"/>
          </a:p>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Anchal Paswan : 04496303123</a:t>
            </a:r>
            <a:endParaRPr lang="en-US" sz="1300" dirty="0"/>
          </a:p>
          <a:p>
            <a:pPr indent="0" marL="0">
              <a:lnSpc>
                <a:spcPct val="130000"/>
              </a:lnSpc>
              <a:buNone/>
            </a:pPr>
            <a:r>
              <a:rPr lang="en-US" sz="1300" b="1" dirty="0">
                <a:solidFill>
                  <a:srgbClr val="FFFFFF"/>
                </a:solidFill>
                <a:latin typeface="Calibri" pitchFamily="34" charset="0"/>
                <a:ea typeface="Calibri" pitchFamily="34" charset="-122"/>
                <a:cs typeface="Calibri" pitchFamily="34" charset="-120"/>
              </a:rPr>
              <a:t>Karma : 04996303122</a:t>
            </a:r>
            <a:endParaRPr lang="en-US" sz="1300" dirty="0"/>
          </a:p>
        </p:txBody>
      </p:sp>
      <p:sp>
        <p:nvSpPr>
          <p:cNvPr id="11" name="Text 9"/>
          <p:cNvSpPr/>
          <p:nvPr/>
        </p:nvSpPr>
        <p:spPr>
          <a:xfrm>
            <a:off x="822960" y="6263640"/>
            <a:ext cx="7315200" cy="548640"/>
          </a:xfrm>
          <a:prstGeom prst="rect">
            <a:avLst/>
          </a:prstGeom>
          <a:noFill/>
          <a:ln/>
        </p:spPr>
        <p:txBody>
          <a:bodyPr wrap="square" lIns="0" tIns="0" rIns="0" bIns="0" rtlCol="0" anchor="ctr"/>
          <a:lstStyle/>
          <a:p>
            <a:pPr indent="0" marL="0">
              <a:lnSpc>
                <a:spcPct val="130000"/>
              </a:lnSpc>
              <a:buNone/>
            </a:pPr>
            <a:r>
              <a:rPr lang="en-US" sz="1050" b="1" dirty="0">
                <a:solidFill>
                  <a:srgbClr val="B9DAD8"/>
                </a:solidFill>
                <a:latin typeface="Calibri" pitchFamily="34" charset="0"/>
                <a:ea typeface="Calibri" pitchFamily="34" charset="-122"/>
                <a:cs typeface="Calibri" pitchFamily="34" charset="-120"/>
              </a:rPr>
              <a:t>Programme: </a:t>
            </a:r>
            <a:pPr indent="0" marL="0">
              <a:lnSpc>
                <a:spcPct val="130000"/>
              </a:lnSpc>
              <a:buNone/>
            </a:pPr>
            <a:r>
              <a:rPr lang="en-US" sz="1050" dirty="0">
                <a:solidFill>
                  <a:srgbClr val="B9DAD8"/>
                </a:solidFill>
                <a:latin typeface="Calibri" pitchFamily="34" charset="0"/>
                <a:ea typeface="Calibri" pitchFamily="34" charset="-122"/>
                <a:cs typeface="Calibri" pitchFamily="34" charset="-120"/>
              </a:rPr>
              <a:t>B.TECH - Information Technology : 2023-2027
</a:t>
            </a:r>
            <a:pPr indent="0" marL="0">
              <a:lnSpc>
                <a:spcPct val="130000"/>
              </a:lnSpc>
              <a:buNone/>
            </a:pPr>
            <a:r>
              <a:rPr lang="en-US" sz="1050" b="1" dirty="0">
                <a:solidFill>
                  <a:srgbClr val="B9DAD8"/>
                </a:solidFill>
                <a:latin typeface="Calibri" pitchFamily="34" charset="0"/>
                <a:ea typeface="Calibri" pitchFamily="34" charset="-122"/>
                <a:cs typeface="Calibri" pitchFamily="34" charset="-120"/>
              </a:rPr>
              <a:t>Institution: </a:t>
            </a:r>
            <a:pPr indent="0" marL="0">
              <a:lnSpc>
                <a:spcPct val="130000"/>
              </a:lnSpc>
              <a:buNone/>
            </a:pPr>
            <a:r>
              <a:rPr lang="en-US" sz="1050" dirty="0">
                <a:solidFill>
                  <a:srgbClr val="B9DAD8"/>
                </a:solidFill>
                <a:latin typeface="Calibri" pitchFamily="34" charset="0"/>
                <a:ea typeface="Calibri" pitchFamily="34" charset="-122"/>
                <a:cs typeface="Calibri" pitchFamily="34" charset="-120"/>
              </a:rPr>
              <a:t>Maharaja Surajmal Institute of Technology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48640" y="1600200"/>
            <a:ext cx="3520440" cy="3246120"/>
          </a:xfrm>
          <a:prstGeom prst="rect">
            <a:avLst/>
          </a:prstGeom>
          <a:solidFill>
            <a:srgbClr val="F4F6FA"/>
          </a:solidFill>
          <a:ln/>
        </p:spPr>
      </p:sp>
      <p:sp>
        <p:nvSpPr>
          <p:cNvPr id="5" name="Shape 3"/>
          <p:cNvSpPr/>
          <p:nvPr/>
        </p:nvSpPr>
        <p:spPr>
          <a:xfrm>
            <a:off x="822960" y="1874520"/>
            <a:ext cx="384048" cy="384048"/>
          </a:xfrm>
          <a:prstGeom prst="ellipse">
            <a:avLst/>
          </a:prstGeom>
          <a:solidFill>
            <a:srgbClr val="16234A"/>
          </a:solidFill>
          <a:ln/>
        </p:spPr>
      </p:sp>
      <p:sp>
        <p:nvSpPr>
          <p:cNvPr id="6" name="Text 4"/>
          <p:cNvSpPr/>
          <p:nvPr/>
        </p:nvSpPr>
        <p:spPr>
          <a:xfrm>
            <a:off x="822960" y="1874520"/>
            <a:ext cx="384048" cy="384048"/>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01</a:t>
            </a:r>
            <a:endParaRPr lang="en-US" sz="1150" dirty="0"/>
          </a:p>
        </p:txBody>
      </p:sp>
      <p:sp>
        <p:nvSpPr>
          <p:cNvPr id="7" name="Text 5"/>
          <p:cNvSpPr/>
          <p:nvPr/>
        </p:nvSpPr>
        <p:spPr>
          <a:xfrm>
            <a:off x="822960" y="2468880"/>
            <a:ext cx="2971800" cy="822960"/>
          </a:xfrm>
          <a:prstGeom prst="rect">
            <a:avLst/>
          </a:prstGeom>
          <a:noFill/>
          <a:ln/>
        </p:spPr>
        <p:txBody>
          <a:bodyPr wrap="square" lIns="0" tIns="0" rIns="0" bIns="0" rtlCol="0" anchor="ctr"/>
          <a:lstStyle/>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Cryptic, Inconsistent</a:t>
            </a:r>
            <a:endParaRPr lang="en-US" sz="1600" dirty="0"/>
          </a:p>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Merchant Text</a:t>
            </a:r>
            <a:endParaRPr lang="en-US" sz="1600" dirty="0"/>
          </a:p>
        </p:txBody>
      </p:sp>
      <p:sp>
        <p:nvSpPr>
          <p:cNvPr id="8" name="Text 6"/>
          <p:cNvSpPr/>
          <p:nvPr/>
        </p:nvSpPr>
        <p:spPr>
          <a:xfrm>
            <a:off x="822960" y="3383280"/>
            <a:ext cx="2971800" cy="137160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Bank statements list the same subscription under different names — e.g. “NETFLIX.COM 8829 CA” one month, “NETFLIX*STREAM” the next — making manual tracking unreliable.</a:t>
            </a:r>
            <a:endParaRPr lang="en-US" sz="1150" dirty="0"/>
          </a:p>
        </p:txBody>
      </p:sp>
      <p:sp>
        <p:nvSpPr>
          <p:cNvPr id="9" name="Shape 7"/>
          <p:cNvSpPr/>
          <p:nvPr/>
        </p:nvSpPr>
        <p:spPr>
          <a:xfrm>
            <a:off x="4343400" y="1600200"/>
            <a:ext cx="3520440" cy="3246120"/>
          </a:xfrm>
          <a:prstGeom prst="rect">
            <a:avLst/>
          </a:prstGeom>
          <a:solidFill>
            <a:srgbClr val="F4F6FA"/>
          </a:solidFill>
          <a:ln/>
        </p:spPr>
      </p:sp>
      <p:sp>
        <p:nvSpPr>
          <p:cNvPr id="10" name="Shape 8"/>
          <p:cNvSpPr/>
          <p:nvPr/>
        </p:nvSpPr>
        <p:spPr>
          <a:xfrm>
            <a:off x="4617720" y="1874520"/>
            <a:ext cx="384048" cy="384048"/>
          </a:xfrm>
          <a:prstGeom prst="ellipse">
            <a:avLst/>
          </a:prstGeom>
          <a:solidFill>
            <a:srgbClr val="16234A"/>
          </a:solidFill>
          <a:ln/>
        </p:spPr>
      </p:sp>
      <p:sp>
        <p:nvSpPr>
          <p:cNvPr id="11" name="Text 9"/>
          <p:cNvSpPr/>
          <p:nvPr/>
        </p:nvSpPr>
        <p:spPr>
          <a:xfrm>
            <a:off x="4617720" y="1874520"/>
            <a:ext cx="384048" cy="384048"/>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02</a:t>
            </a:r>
            <a:endParaRPr lang="en-US" sz="1150" dirty="0"/>
          </a:p>
        </p:txBody>
      </p:sp>
      <p:sp>
        <p:nvSpPr>
          <p:cNvPr id="12" name="Text 10"/>
          <p:cNvSpPr/>
          <p:nvPr/>
        </p:nvSpPr>
        <p:spPr>
          <a:xfrm>
            <a:off x="4617720" y="2468880"/>
            <a:ext cx="2971800" cy="822960"/>
          </a:xfrm>
          <a:prstGeom prst="rect">
            <a:avLst/>
          </a:prstGeom>
          <a:noFill/>
          <a:ln/>
        </p:spPr>
        <p:txBody>
          <a:bodyPr wrap="square" lIns="0" tIns="0" rIns="0" bIns="0" rtlCol="0" anchor="ctr"/>
          <a:lstStyle/>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Recurring Charges Are</a:t>
            </a:r>
            <a:endParaRPr lang="en-US" sz="1600" dirty="0"/>
          </a:p>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Invisible in Statements</a:t>
            </a:r>
            <a:endParaRPr lang="en-US" sz="1600" dirty="0"/>
          </a:p>
        </p:txBody>
      </p:sp>
      <p:sp>
        <p:nvSpPr>
          <p:cNvPr id="13" name="Text 11"/>
          <p:cNvSpPr/>
          <p:nvPr/>
        </p:nvSpPr>
        <p:spPr>
          <a:xfrm>
            <a:off x="4617720" y="3383280"/>
            <a:ext cx="2971800" cy="137160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A bank statement is just a flat list of transactions. Nothing shows which charges repeat monthly, which are one-off, or which have quietly changed in amount.</a:t>
            </a:r>
            <a:endParaRPr lang="en-US" sz="1150" dirty="0"/>
          </a:p>
        </p:txBody>
      </p:sp>
      <p:sp>
        <p:nvSpPr>
          <p:cNvPr id="14" name="Shape 12"/>
          <p:cNvSpPr/>
          <p:nvPr/>
        </p:nvSpPr>
        <p:spPr>
          <a:xfrm>
            <a:off x="8138160" y="1600200"/>
            <a:ext cx="3520440" cy="3246120"/>
          </a:xfrm>
          <a:prstGeom prst="rect">
            <a:avLst/>
          </a:prstGeom>
          <a:solidFill>
            <a:srgbClr val="F4F6FA"/>
          </a:solidFill>
          <a:ln/>
        </p:spPr>
      </p:sp>
      <p:sp>
        <p:nvSpPr>
          <p:cNvPr id="15" name="Shape 13"/>
          <p:cNvSpPr/>
          <p:nvPr/>
        </p:nvSpPr>
        <p:spPr>
          <a:xfrm>
            <a:off x="8412480" y="1874520"/>
            <a:ext cx="384048" cy="384048"/>
          </a:xfrm>
          <a:prstGeom prst="ellipse">
            <a:avLst/>
          </a:prstGeom>
          <a:solidFill>
            <a:srgbClr val="16234A"/>
          </a:solidFill>
          <a:ln/>
        </p:spPr>
      </p:sp>
      <p:sp>
        <p:nvSpPr>
          <p:cNvPr id="16" name="Text 14"/>
          <p:cNvSpPr/>
          <p:nvPr/>
        </p:nvSpPr>
        <p:spPr>
          <a:xfrm>
            <a:off x="8412480" y="1874520"/>
            <a:ext cx="384048" cy="384048"/>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03</a:t>
            </a:r>
            <a:endParaRPr lang="en-US" sz="1150" dirty="0"/>
          </a:p>
        </p:txBody>
      </p:sp>
      <p:sp>
        <p:nvSpPr>
          <p:cNvPr id="17" name="Text 15"/>
          <p:cNvSpPr/>
          <p:nvPr/>
        </p:nvSpPr>
        <p:spPr>
          <a:xfrm>
            <a:off x="8412480" y="2468880"/>
            <a:ext cx="2971800" cy="822960"/>
          </a:xfrm>
          <a:prstGeom prst="rect">
            <a:avLst/>
          </a:prstGeom>
          <a:noFill/>
          <a:ln/>
        </p:spPr>
        <p:txBody>
          <a:bodyPr wrap="square" lIns="0" tIns="0" rIns="0" bIns="0" rtlCol="0" anchor="ctr"/>
          <a:lstStyle/>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Existing Budgeting</a:t>
            </a:r>
            <a:endParaRPr lang="en-US" sz="1600" dirty="0"/>
          </a:p>
          <a:p>
            <a:pPr indent="0" marL="0">
              <a:lnSpc>
                <a:spcPct val="105000"/>
              </a:lnSpc>
              <a:buNone/>
            </a:pPr>
            <a:r>
              <a:rPr lang="en-US" sz="1600" b="1" dirty="0">
                <a:solidFill>
                  <a:srgbClr val="16234A"/>
                </a:solidFill>
                <a:latin typeface="Cambria" pitchFamily="34" charset="0"/>
                <a:ea typeface="Cambria" pitchFamily="34" charset="-122"/>
                <a:cs typeface="Cambria" pitchFamily="34" charset="-120"/>
              </a:rPr>
              <a:t>Apps Fall Short</a:t>
            </a:r>
            <a:endParaRPr lang="en-US" sz="1600" dirty="0"/>
          </a:p>
        </p:txBody>
      </p:sp>
      <p:sp>
        <p:nvSpPr>
          <p:cNvPr id="18" name="Text 16"/>
          <p:cNvSpPr/>
          <p:nvPr/>
        </p:nvSpPr>
        <p:spPr>
          <a:xfrm>
            <a:off x="8412480" y="3383280"/>
            <a:ext cx="2971800" cy="1371600"/>
          </a:xfrm>
          <a:prstGeom prst="rect">
            <a:avLst/>
          </a:prstGeom>
          <a:noFill/>
          <a:ln/>
        </p:spPr>
        <p:txBody>
          <a:bodyPr wrap="square" lIns="0" tIns="0" rIns="0" bIns="0" rtlCol="0" anchor="ctr"/>
          <a:lstStyle/>
          <a:p>
            <a:pPr indent="0" marL="0">
              <a:lnSpc>
                <a:spcPct val="120000"/>
              </a:lnSpc>
              <a:buNone/>
            </a:pPr>
            <a:r>
              <a:rPr lang="en-US" sz="1150" dirty="0">
                <a:solidFill>
                  <a:srgbClr val="5A6472"/>
                </a:solidFill>
                <a:latin typeface="Calibri" pitchFamily="34" charset="0"/>
                <a:ea typeface="Calibri" pitchFamily="34" charset="-122"/>
                <a:cs typeface="Calibri" pitchFamily="34" charset="-120"/>
              </a:rPr>
              <a:t>Popular finance apps show total spending by category, but never flag unused subscriptions, silent price increases, or give an explainable reason to cancel.</a:t>
            </a:r>
            <a:endParaRPr lang="en-US" sz="1150" dirty="0"/>
          </a:p>
        </p:txBody>
      </p:sp>
      <p:sp>
        <p:nvSpPr>
          <p:cNvPr id="19" name="Shape 17"/>
          <p:cNvSpPr/>
          <p:nvPr/>
        </p:nvSpPr>
        <p:spPr>
          <a:xfrm>
            <a:off x="548640" y="5166360"/>
            <a:ext cx="11064240" cy="685800"/>
          </a:xfrm>
          <a:prstGeom prst="rect">
            <a:avLst/>
          </a:prstGeom>
          <a:solidFill>
            <a:srgbClr val="16234A"/>
          </a:solidFill>
          <a:ln/>
        </p:spPr>
      </p:sp>
      <p:sp>
        <p:nvSpPr>
          <p:cNvPr id="20" name="Text 18"/>
          <p:cNvSpPr/>
          <p:nvPr/>
        </p:nvSpPr>
        <p:spPr>
          <a:xfrm>
            <a:off x="822960" y="5166360"/>
            <a:ext cx="10515600" cy="685800"/>
          </a:xfrm>
          <a:prstGeom prst="rect">
            <a:avLst/>
          </a:prstGeom>
          <a:noFill/>
          <a:ln/>
        </p:spPr>
        <p:txBody>
          <a:bodyPr wrap="square" lIns="0" tIns="0" rIns="0" bIns="0" rtlCol="0" anchor="ctr"/>
          <a:lstStyle/>
          <a:p>
            <a:pPr indent="0" marL="0">
              <a:buNone/>
            </a:pPr>
            <a:r>
              <a:rPr lang="en-US" sz="1350" b="1" dirty="0">
                <a:solidFill>
                  <a:srgbClr val="F5A623"/>
                </a:solidFill>
                <a:latin typeface="Calibri" pitchFamily="34" charset="0"/>
                <a:ea typeface="Calibri" pitchFamily="34" charset="-122"/>
                <a:cs typeface="Calibri" pitchFamily="34" charset="-120"/>
              </a:rPr>
              <a:t>The core question:  </a:t>
            </a:r>
            <a:pPr indent="0" marL="0">
              <a:buNone/>
            </a:pPr>
            <a:r>
              <a:rPr lang="en-US" sz="1350" i="1" dirty="0">
                <a:solidFill>
                  <a:srgbClr val="FFFFFF"/>
                </a:solidFill>
                <a:latin typeface="Calibri" pitchFamily="34" charset="0"/>
                <a:ea typeface="Calibri" pitchFamily="34" charset="-122"/>
                <a:cs typeface="Calibri" pitchFamily="34" charset="-120"/>
              </a:rPr>
              <a:t>“Which of my subscriptions am I actually wasting money on — and how would I even find out?”</a:t>
            </a:r>
            <a:endParaRPr lang="en-US" sz="1350" dirty="0"/>
          </a:p>
        </p:txBody>
      </p:sp>
      <p:sp>
        <p:nvSpPr>
          <p:cNvPr id="21" name="Shape 19"/>
          <p:cNvSpPr/>
          <p:nvPr/>
        </p:nvSpPr>
        <p:spPr>
          <a:xfrm>
            <a:off x="11475720" y="6263640"/>
            <a:ext cx="502920" cy="502920"/>
          </a:xfrm>
          <a:prstGeom prst="ellipse">
            <a:avLst/>
          </a:prstGeom>
          <a:solidFill>
            <a:srgbClr val="16234A"/>
          </a:solidFill>
          <a:ln/>
        </p:spPr>
      </p:sp>
      <p:sp>
        <p:nvSpPr>
          <p:cNvPr id="22" name="Text 20"/>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WHY THIS MATTERS NOW</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Recent Incidents &amp; Trends</a:t>
            </a:r>
            <a:endParaRPr lang="en-US" sz="3000" dirty="0"/>
          </a:p>
        </p:txBody>
      </p:sp>
      <p:sp>
        <p:nvSpPr>
          <p:cNvPr id="4" name="Shape 2"/>
          <p:cNvSpPr/>
          <p:nvPr/>
        </p:nvSpPr>
        <p:spPr>
          <a:xfrm>
            <a:off x="548640" y="1645920"/>
            <a:ext cx="2651760" cy="3017520"/>
          </a:xfrm>
          <a:prstGeom prst="rect">
            <a:avLst/>
          </a:prstGeom>
          <a:solidFill>
            <a:srgbClr val="F4F6FA"/>
          </a:solidFill>
          <a:ln/>
        </p:spPr>
      </p:sp>
      <p:sp>
        <p:nvSpPr>
          <p:cNvPr id="5" name="Shape 3"/>
          <p:cNvSpPr/>
          <p:nvPr/>
        </p:nvSpPr>
        <p:spPr>
          <a:xfrm>
            <a:off x="548640" y="1645920"/>
            <a:ext cx="2651760" cy="82296"/>
          </a:xfrm>
          <a:prstGeom prst="rect">
            <a:avLst/>
          </a:prstGeom>
          <a:solidFill>
            <a:srgbClr val="F5A623"/>
          </a:solidFill>
          <a:ln/>
        </p:spPr>
      </p:sp>
      <p:sp>
        <p:nvSpPr>
          <p:cNvPr id="6" name="Text 4"/>
          <p:cNvSpPr/>
          <p:nvPr/>
        </p:nvSpPr>
        <p:spPr>
          <a:xfrm>
            <a:off x="731520" y="2011680"/>
            <a:ext cx="2286000" cy="777240"/>
          </a:xfrm>
          <a:prstGeom prst="rect">
            <a:avLst/>
          </a:prstGeom>
          <a:noFill/>
          <a:ln/>
        </p:spPr>
        <p:txBody>
          <a:bodyPr wrap="square" lIns="0" tIns="0" rIns="0" bIns="0" rtlCol="0" anchor="ctr"/>
          <a:lstStyle/>
          <a:p>
            <a:pPr algn="l" indent="0" marL="0">
              <a:buNone/>
            </a:pPr>
            <a:r>
              <a:rPr lang="en-US" sz="3200" b="1" dirty="0">
                <a:solidFill>
                  <a:srgbClr val="16234A"/>
                </a:solidFill>
                <a:latin typeface="Cambria" pitchFamily="34" charset="0"/>
                <a:ea typeface="Cambria" pitchFamily="34" charset="-122"/>
                <a:cs typeface="Cambria" pitchFamily="34" charset="-120"/>
              </a:rPr>
              <a:t>42%</a:t>
            </a:r>
            <a:endParaRPr lang="en-US" sz="3200" dirty="0"/>
          </a:p>
        </p:txBody>
      </p:sp>
      <p:sp>
        <p:nvSpPr>
          <p:cNvPr id="7" name="Text 5"/>
          <p:cNvSpPr/>
          <p:nvPr/>
        </p:nvSpPr>
        <p:spPr>
          <a:xfrm>
            <a:off x="731520" y="2880360"/>
            <a:ext cx="2286000" cy="1143000"/>
          </a:xfrm>
          <a:prstGeom prst="rect">
            <a:avLst/>
          </a:prstGeom>
          <a:noFill/>
          <a:ln/>
        </p:spPr>
        <p:txBody>
          <a:bodyPr wrap="square" lIns="0" tIns="0" rIns="0" bIns="0" rtlCol="0" anchor="ctr"/>
          <a:lstStyle/>
          <a:p>
            <a:pPr algn="l" indent="0" marL="0">
              <a:lnSpc>
                <a:spcPct val="120000"/>
              </a:lnSpc>
              <a:buNone/>
            </a:pPr>
            <a:r>
              <a:rPr lang="en-US" sz="1200" dirty="0">
                <a:solidFill>
                  <a:srgbClr val="5A6472"/>
                </a:solidFill>
                <a:latin typeface="Calibri" pitchFamily="34" charset="0"/>
                <a:ea typeface="Calibri" pitchFamily="34" charset="-122"/>
                <a:cs typeface="Calibri" pitchFamily="34" charset="-120"/>
              </a:rPr>
              <a:t>of consumers have forgotten about a subscription while still being charged for it</a:t>
            </a:r>
            <a:endParaRPr lang="en-US" sz="1200" dirty="0"/>
          </a:p>
        </p:txBody>
      </p:sp>
      <p:sp>
        <p:nvSpPr>
          <p:cNvPr id="8" name="Text 6"/>
          <p:cNvSpPr/>
          <p:nvPr/>
        </p:nvSpPr>
        <p:spPr>
          <a:xfrm>
            <a:off x="731520" y="4251960"/>
            <a:ext cx="2286000" cy="320040"/>
          </a:xfrm>
          <a:prstGeom prst="rect">
            <a:avLst/>
          </a:prstGeom>
          <a:noFill/>
          <a:ln/>
        </p:spPr>
        <p:txBody>
          <a:bodyPr wrap="square" lIns="0" tIns="0" rIns="0" bIns="0" rtlCol="0" anchor="ctr"/>
          <a:lstStyle/>
          <a:p>
            <a:pPr algn="l" indent="0" marL="0">
              <a:buNone/>
            </a:pPr>
            <a:r>
              <a:rPr lang="en-US" sz="900" i="1" dirty="0">
                <a:solidFill>
                  <a:srgbClr val="8A93A3"/>
                </a:solidFill>
                <a:latin typeface="Calibri" pitchFamily="34" charset="0"/>
                <a:ea typeface="Calibri" pitchFamily="34" charset="-122"/>
                <a:cs typeface="Calibri" pitchFamily="34" charset="-120"/>
              </a:rPr>
              <a:t>West Monroe / Canopy, 2025</a:t>
            </a:r>
            <a:endParaRPr lang="en-US" sz="900" dirty="0"/>
          </a:p>
        </p:txBody>
      </p:sp>
      <p:sp>
        <p:nvSpPr>
          <p:cNvPr id="9" name="Shape 7"/>
          <p:cNvSpPr/>
          <p:nvPr/>
        </p:nvSpPr>
        <p:spPr>
          <a:xfrm>
            <a:off x="3429000" y="1645920"/>
            <a:ext cx="2651760" cy="3017520"/>
          </a:xfrm>
          <a:prstGeom prst="rect">
            <a:avLst/>
          </a:prstGeom>
          <a:solidFill>
            <a:srgbClr val="F4F6FA"/>
          </a:solidFill>
          <a:ln/>
        </p:spPr>
      </p:sp>
      <p:sp>
        <p:nvSpPr>
          <p:cNvPr id="10" name="Shape 8"/>
          <p:cNvSpPr/>
          <p:nvPr/>
        </p:nvSpPr>
        <p:spPr>
          <a:xfrm>
            <a:off x="3429000" y="1645920"/>
            <a:ext cx="2651760" cy="82296"/>
          </a:xfrm>
          <a:prstGeom prst="rect">
            <a:avLst/>
          </a:prstGeom>
          <a:solidFill>
            <a:srgbClr val="2EC4B6"/>
          </a:solidFill>
          <a:ln/>
        </p:spPr>
      </p:sp>
      <p:sp>
        <p:nvSpPr>
          <p:cNvPr id="11" name="Text 9"/>
          <p:cNvSpPr/>
          <p:nvPr/>
        </p:nvSpPr>
        <p:spPr>
          <a:xfrm>
            <a:off x="3611880" y="2011680"/>
            <a:ext cx="2286000" cy="777240"/>
          </a:xfrm>
          <a:prstGeom prst="rect">
            <a:avLst/>
          </a:prstGeom>
          <a:noFill/>
          <a:ln/>
        </p:spPr>
        <p:txBody>
          <a:bodyPr wrap="square" lIns="0" tIns="0" rIns="0" bIns="0" rtlCol="0" anchor="ctr"/>
          <a:lstStyle/>
          <a:p>
            <a:pPr algn="l" indent="0" marL="0">
              <a:buNone/>
            </a:pPr>
            <a:r>
              <a:rPr lang="en-US" sz="3200" b="1" dirty="0">
                <a:solidFill>
                  <a:srgbClr val="16234A"/>
                </a:solidFill>
                <a:latin typeface="Cambria" pitchFamily="34" charset="0"/>
                <a:ea typeface="Cambria" pitchFamily="34" charset="-122"/>
                <a:cs typeface="Cambria" pitchFamily="34" charset="-120"/>
              </a:rPr>
              <a:t>$15.5B</a:t>
            </a:r>
            <a:endParaRPr lang="en-US" sz="3200" dirty="0"/>
          </a:p>
        </p:txBody>
      </p:sp>
      <p:sp>
        <p:nvSpPr>
          <p:cNvPr id="12" name="Text 10"/>
          <p:cNvSpPr/>
          <p:nvPr/>
        </p:nvSpPr>
        <p:spPr>
          <a:xfrm>
            <a:off x="3611880" y="2880360"/>
            <a:ext cx="2286000" cy="1143000"/>
          </a:xfrm>
          <a:prstGeom prst="rect">
            <a:avLst/>
          </a:prstGeom>
          <a:noFill/>
          <a:ln/>
        </p:spPr>
        <p:txBody>
          <a:bodyPr wrap="square" lIns="0" tIns="0" rIns="0" bIns="0" rtlCol="0" anchor="ctr"/>
          <a:lstStyle/>
          <a:p>
            <a:pPr algn="l" indent="0" marL="0">
              <a:lnSpc>
                <a:spcPct val="120000"/>
              </a:lnSpc>
              <a:buNone/>
            </a:pPr>
            <a:r>
              <a:rPr lang="en-US" sz="1200" dirty="0">
                <a:solidFill>
                  <a:srgbClr val="5A6472"/>
                </a:solidFill>
                <a:latin typeface="Calibri" pitchFamily="34" charset="0"/>
                <a:ea typeface="Calibri" pitchFamily="34" charset="-122"/>
                <a:cs typeface="Calibri" pitchFamily="34" charset="-120"/>
              </a:rPr>
              <a:t>wasted annually by Americans on forgotten, unused subscriptions</a:t>
            </a:r>
            <a:endParaRPr lang="en-US" sz="1200" dirty="0"/>
          </a:p>
        </p:txBody>
      </p:sp>
      <p:sp>
        <p:nvSpPr>
          <p:cNvPr id="13" name="Text 11"/>
          <p:cNvSpPr/>
          <p:nvPr/>
        </p:nvSpPr>
        <p:spPr>
          <a:xfrm>
            <a:off x="3611880" y="4251960"/>
            <a:ext cx="2286000" cy="320040"/>
          </a:xfrm>
          <a:prstGeom prst="rect">
            <a:avLst/>
          </a:prstGeom>
          <a:noFill/>
          <a:ln/>
        </p:spPr>
        <p:txBody>
          <a:bodyPr wrap="square" lIns="0" tIns="0" rIns="0" bIns="0" rtlCol="0" anchor="ctr"/>
          <a:lstStyle/>
          <a:p>
            <a:pPr algn="l" indent="0" marL="0">
              <a:buNone/>
            </a:pPr>
            <a:r>
              <a:rPr lang="en-US" sz="900" i="1" dirty="0">
                <a:solidFill>
                  <a:srgbClr val="8A93A3"/>
                </a:solidFill>
                <a:latin typeface="Calibri" pitchFamily="34" charset="0"/>
                <a:ea typeface="Calibri" pitchFamily="34" charset="-122"/>
                <a:cs typeface="Calibri" pitchFamily="34" charset="-120"/>
              </a:rPr>
              <a:t>SubStop Research, 2026</a:t>
            </a:r>
            <a:endParaRPr lang="en-US" sz="900" dirty="0"/>
          </a:p>
        </p:txBody>
      </p:sp>
      <p:sp>
        <p:nvSpPr>
          <p:cNvPr id="14" name="Shape 12"/>
          <p:cNvSpPr/>
          <p:nvPr/>
        </p:nvSpPr>
        <p:spPr>
          <a:xfrm>
            <a:off x="6309360" y="1645920"/>
            <a:ext cx="2651760" cy="3017520"/>
          </a:xfrm>
          <a:prstGeom prst="rect">
            <a:avLst/>
          </a:prstGeom>
          <a:solidFill>
            <a:srgbClr val="F4F6FA"/>
          </a:solidFill>
          <a:ln/>
        </p:spPr>
      </p:sp>
      <p:sp>
        <p:nvSpPr>
          <p:cNvPr id="15" name="Shape 13"/>
          <p:cNvSpPr/>
          <p:nvPr/>
        </p:nvSpPr>
        <p:spPr>
          <a:xfrm>
            <a:off x="6309360" y="1645920"/>
            <a:ext cx="2651760" cy="82296"/>
          </a:xfrm>
          <a:prstGeom prst="rect">
            <a:avLst/>
          </a:prstGeom>
          <a:solidFill>
            <a:srgbClr val="F5A623"/>
          </a:solidFill>
          <a:ln/>
        </p:spPr>
      </p:sp>
      <p:sp>
        <p:nvSpPr>
          <p:cNvPr id="16" name="Text 14"/>
          <p:cNvSpPr/>
          <p:nvPr/>
        </p:nvSpPr>
        <p:spPr>
          <a:xfrm>
            <a:off x="6492240" y="2011680"/>
            <a:ext cx="2286000" cy="777240"/>
          </a:xfrm>
          <a:prstGeom prst="rect">
            <a:avLst/>
          </a:prstGeom>
          <a:noFill/>
          <a:ln/>
        </p:spPr>
        <p:txBody>
          <a:bodyPr wrap="square" lIns="0" tIns="0" rIns="0" bIns="0" rtlCol="0" anchor="ctr"/>
          <a:lstStyle/>
          <a:p>
            <a:pPr algn="l" indent="0" marL="0">
              <a:buNone/>
            </a:pPr>
            <a:r>
              <a:rPr lang="en-US" sz="3200" b="1" dirty="0">
                <a:solidFill>
                  <a:srgbClr val="16234A"/>
                </a:solidFill>
                <a:latin typeface="Cambria" pitchFamily="34" charset="0"/>
                <a:ea typeface="Cambria" pitchFamily="34" charset="-122"/>
                <a:cs typeface="Cambria" pitchFamily="34" charset="-120"/>
              </a:rPr>
              <a:t>$127</a:t>
            </a:r>
            <a:endParaRPr lang="en-US" sz="3200" dirty="0"/>
          </a:p>
        </p:txBody>
      </p:sp>
      <p:sp>
        <p:nvSpPr>
          <p:cNvPr id="17" name="Text 15"/>
          <p:cNvSpPr/>
          <p:nvPr/>
        </p:nvSpPr>
        <p:spPr>
          <a:xfrm>
            <a:off x="6492240" y="2880360"/>
            <a:ext cx="2286000" cy="1143000"/>
          </a:xfrm>
          <a:prstGeom prst="rect">
            <a:avLst/>
          </a:prstGeom>
          <a:noFill/>
          <a:ln/>
        </p:spPr>
        <p:txBody>
          <a:bodyPr wrap="square" lIns="0" tIns="0" rIns="0" bIns="0" rtlCol="0" anchor="ctr"/>
          <a:lstStyle/>
          <a:p>
            <a:pPr algn="l" indent="0" marL="0">
              <a:lnSpc>
                <a:spcPct val="120000"/>
              </a:lnSpc>
              <a:buNone/>
            </a:pPr>
            <a:r>
              <a:rPr lang="en-US" sz="1200" dirty="0">
                <a:solidFill>
                  <a:srgbClr val="5A6472"/>
                </a:solidFill>
                <a:latin typeface="Calibri" pitchFamily="34" charset="0"/>
                <a:ea typeface="Calibri" pitchFamily="34" charset="-122"/>
                <a:cs typeface="Calibri" pitchFamily="34" charset="-120"/>
              </a:rPr>
              <a:t>average amount an individual wastes per year on subscriptions they don't use</a:t>
            </a:r>
            <a:endParaRPr lang="en-US" sz="1200" dirty="0"/>
          </a:p>
        </p:txBody>
      </p:sp>
      <p:sp>
        <p:nvSpPr>
          <p:cNvPr id="18" name="Text 16"/>
          <p:cNvSpPr/>
          <p:nvPr/>
        </p:nvSpPr>
        <p:spPr>
          <a:xfrm>
            <a:off x="6492240" y="4251960"/>
            <a:ext cx="2286000" cy="320040"/>
          </a:xfrm>
          <a:prstGeom prst="rect">
            <a:avLst/>
          </a:prstGeom>
          <a:noFill/>
          <a:ln/>
        </p:spPr>
        <p:txBody>
          <a:bodyPr wrap="square" lIns="0" tIns="0" rIns="0" bIns="0" rtlCol="0" anchor="ctr"/>
          <a:lstStyle/>
          <a:p>
            <a:pPr algn="l" indent="0" marL="0">
              <a:buNone/>
            </a:pPr>
            <a:r>
              <a:rPr lang="en-US" sz="900" i="1" dirty="0">
                <a:solidFill>
                  <a:srgbClr val="8A93A3"/>
                </a:solidFill>
                <a:latin typeface="Calibri" pitchFamily="34" charset="0"/>
                <a:ea typeface="Calibri" pitchFamily="34" charset="-122"/>
                <a:cs typeface="Calibri" pitchFamily="34" charset="-120"/>
              </a:rPr>
              <a:t>Self Financial Survey, 2025</a:t>
            </a:r>
            <a:endParaRPr lang="en-US" sz="900" dirty="0"/>
          </a:p>
        </p:txBody>
      </p:sp>
      <p:sp>
        <p:nvSpPr>
          <p:cNvPr id="19" name="Shape 17"/>
          <p:cNvSpPr/>
          <p:nvPr/>
        </p:nvSpPr>
        <p:spPr>
          <a:xfrm>
            <a:off x="9189720" y="1645920"/>
            <a:ext cx="2651760" cy="3017520"/>
          </a:xfrm>
          <a:prstGeom prst="rect">
            <a:avLst/>
          </a:prstGeom>
          <a:solidFill>
            <a:srgbClr val="F4F6FA"/>
          </a:solidFill>
          <a:ln/>
        </p:spPr>
      </p:sp>
      <p:sp>
        <p:nvSpPr>
          <p:cNvPr id="20" name="Shape 18"/>
          <p:cNvSpPr/>
          <p:nvPr/>
        </p:nvSpPr>
        <p:spPr>
          <a:xfrm>
            <a:off x="9189720" y="1645920"/>
            <a:ext cx="2651760" cy="82296"/>
          </a:xfrm>
          <a:prstGeom prst="rect">
            <a:avLst/>
          </a:prstGeom>
          <a:solidFill>
            <a:srgbClr val="2EC4B6"/>
          </a:solidFill>
          <a:ln/>
        </p:spPr>
      </p:sp>
      <p:sp>
        <p:nvSpPr>
          <p:cNvPr id="21" name="Text 19"/>
          <p:cNvSpPr/>
          <p:nvPr/>
        </p:nvSpPr>
        <p:spPr>
          <a:xfrm>
            <a:off x="9372600" y="2011680"/>
            <a:ext cx="2286000" cy="777240"/>
          </a:xfrm>
          <a:prstGeom prst="rect">
            <a:avLst/>
          </a:prstGeom>
          <a:noFill/>
          <a:ln/>
        </p:spPr>
        <p:txBody>
          <a:bodyPr wrap="square" lIns="0" tIns="0" rIns="0" bIns="0" rtlCol="0" anchor="ctr"/>
          <a:lstStyle/>
          <a:p>
            <a:pPr algn="l" indent="0" marL="0">
              <a:buNone/>
            </a:pPr>
            <a:r>
              <a:rPr lang="en-US" sz="3200" b="1" dirty="0">
                <a:solidFill>
                  <a:srgbClr val="16234A"/>
                </a:solidFill>
                <a:latin typeface="Cambria" pitchFamily="34" charset="0"/>
                <a:ea typeface="Cambria" pitchFamily="34" charset="-122"/>
                <a:cs typeface="Cambria" pitchFamily="34" charset="-120"/>
              </a:rPr>
              <a:t>89%</a:t>
            </a:r>
            <a:endParaRPr lang="en-US" sz="3200" dirty="0"/>
          </a:p>
        </p:txBody>
      </p:sp>
      <p:sp>
        <p:nvSpPr>
          <p:cNvPr id="22" name="Text 20"/>
          <p:cNvSpPr/>
          <p:nvPr/>
        </p:nvSpPr>
        <p:spPr>
          <a:xfrm>
            <a:off x="9372600" y="2880360"/>
            <a:ext cx="2286000" cy="1143000"/>
          </a:xfrm>
          <a:prstGeom prst="rect">
            <a:avLst/>
          </a:prstGeom>
          <a:noFill/>
          <a:ln/>
        </p:spPr>
        <p:txBody>
          <a:bodyPr wrap="square" lIns="0" tIns="0" rIns="0" bIns="0" rtlCol="0" anchor="ctr"/>
          <a:lstStyle/>
          <a:p>
            <a:pPr algn="l" indent="0" marL="0">
              <a:lnSpc>
                <a:spcPct val="120000"/>
              </a:lnSpc>
              <a:buNone/>
            </a:pPr>
            <a:r>
              <a:rPr lang="en-US" sz="1200" dirty="0">
                <a:solidFill>
                  <a:srgbClr val="5A6472"/>
                </a:solidFill>
                <a:latin typeface="Calibri" pitchFamily="34" charset="0"/>
                <a:ea typeface="Calibri" pitchFamily="34" charset="-122"/>
                <a:cs typeface="Calibri" pitchFamily="34" charset="-120"/>
              </a:rPr>
              <a:t>of consumers underestimate their true monthly subscription spending</a:t>
            </a:r>
            <a:endParaRPr lang="en-US" sz="1200" dirty="0"/>
          </a:p>
        </p:txBody>
      </p:sp>
      <p:sp>
        <p:nvSpPr>
          <p:cNvPr id="23" name="Text 21"/>
          <p:cNvSpPr/>
          <p:nvPr/>
        </p:nvSpPr>
        <p:spPr>
          <a:xfrm>
            <a:off x="9372600" y="4251960"/>
            <a:ext cx="2286000" cy="320040"/>
          </a:xfrm>
          <a:prstGeom prst="rect">
            <a:avLst/>
          </a:prstGeom>
          <a:noFill/>
          <a:ln/>
        </p:spPr>
        <p:txBody>
          <a:bodyPr wrap="square" lIns="0" tIns="0" rIns="0" bIns="0" rtlCol="0" anchor="ctr"/>
          <a:lstStyle/>
          <a:p>
            <a:pPr algn="l" indent="0" marL="0">
              <a:buNone/>
            </a:pPr>
            <a:r>
              <a:rPr lang="en-US" sz="900" i="1" dirty="0">
                <a:solidFill>
                  <a:srgbClr val="8A93A3"/>
                </a:solidFill>
                <a:latin typeface="Calibri" pitchFamily="34" charset="0"/>
                <a:ea typeface="Calibri" pitchFamily="34" charset="-122"/>
                <a:cs typeface="Calibri" pitchFamily="34" charset="-120"/>
              </a:rPr>
              <a:t>West Monroe Survey, 2025</a:t>
            </a:r>
            <a:endParaRPr lang="en-US" sz="900" dirty="0"/>
          </a:p>
        </p:txBody>
      </p:sp>
      <p:sp>
        <p:nvSpPr>
          <p:cNvPr id="24" name="Shape 22"/>
          <p:cNvSpPr/>
          <p:nvPr/>
        </p:nvSpPr>
        <p:spPr>
          <a:xfrm>
            <a:off x="548640" y="4983480"/>
            <a:ext cx="11064240" cy="868680"/>
          </a:xfrm>
          <a:prstGeom prst="rect">
            <a:avLst/>
          </a:prstGeom>
          <a:solidFill>
            <a:srgbClr val="16234A"/>
          </a:solidFill>
          <a:ln/>
        </p:spPr>
      </p:sp>
      <p:sp>
        <p:nvSpPr>
          <p:cNvPr id="25" name="Text 23"/>
          <p:cNvSpPr/>
          <p:nvPr/>
        </p:nvSpPr>
        <p:spPr>
          <a:xfrm>
            <a:off x="822960" y="4983480"/>
            <a:ext cx="10515600" cy="868680"/>
          </a:xfrm>
          <a:prstGeom prst="rect">
            <a:avLst/>
          </a:prstGeom>
          <a:noFill/>
          <a:ln/>
        </p:spPr>
        <p:txBody>
          <a:bodyPr wrap="square" lIns="0" tIns="0" rIns="0" bIns="0" rtlCol="0" anchor="ctr"/>
          <a:lstStyle/>
          <a:p>
            <a:pPr indent="0" marL="0">
              <a:lnSpc>
                <a:spcPct val="115000"/>
              </a:lnSpc>
              <a:buNone/>
            </a:pPr>
            <a:r>
              <a:rPr lang="en-US" sz="1250" b="1" dirty="0">
                <a:solidFill>
                  <a:srgbClr val="F5A623"/>
                </a:solidFill>
                <a:latin typeface="Calibri" pitchFamily="34" charset="0"/>
                <a:ea typeface="Calibri" pitchFamily="34" charset="-122"/>
                <a:cs typeface="Calibri" pitchFamily="34" charset="-120"/>
              </a:rPr>
              <a:t>The bigger picture:  </a:t>
            </a:r>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The global subscription economy was valued at ~$536 billion in 2025 and is projected to reach $859 billion in 2026 (Fortune Business Insights) — growing far faster than most consumers' ability to track what they're actually paying for.</a:t>
            </a:r>
            <a:endParaRPr lang="en-US" sz="1250" dirty="0"/>
          </a:p>
        </p:txBody>
      </p:sp>
      <p:sp>
        <p:nvSpPr>
          <p:cNvPr id="26" name="Shape 24"/>
          <p:cNvSpPr/>
          <p:nvPr/>
        </p:nvSpPr>
        <p:spPr>
          <a:xfrm>
            <a:off x="11475720" y="6263640"/>
            <a:ext cx="502920" cy="502920"/>
          </a:xfrm>
          <a:prstGeom prst="ellipse">
            <a:avLst/>
          </a:prstGeom>
          <a:solidFill>
            <a:srgbClr val="16234A"/>
          </a:solidFill>
          <a:ln/>
        </p:spPr>
      </p:sp>
      <p:sp>
        <p:nvSpPr>
          <p:cNvPr id="27" name="Text 25"/>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WHAT EXISTING RESEARCH COVERS</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Literature Review</a:t>
            </a:r>
            <a:endParaRPr lang="en-US" sz="3000" dirty="0"/>
          </a:p>
        </p:txBody>
      </p:sp>
      <p:sp>
        <p:nvSpPr>
          <p:cNvPr id="4" name="Text 2"/>
          <p:cNvSpPr/>
          <p:nvPr/>
        </p:nvSpPr>
        <p:spPr>
          <a:xfrm>
            <a:off x="868680" y="1554480"/>
            <a:ext cx="260604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Study</a:t>
            </a:r>
            <a:endParaRPr lang="en-US" sz="1100" dirty="0"/>
          </a:p>
        </p:txBody>
      </p:sp>
      <p:sp>
        <p:nvSpPr>
          <p:cNvPr id="5" name="Text 3"/>
          <p:cNvSpPr/>
          <p:nvPr/>
        </p:nvSpPr>
        <p:spPr>
          <a:xfrm>
            <a:off x="3611880" y="1554480"/>
            <a:ext cx="388620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Approach</a:t>
            </a:r>
            <a:endParaRPr lang="en-US" sz="1100" dirty="0"/>
          </a:p>
        </p:txBody>
      </p:sp>
      <p:sp>
        <p:nvSpPr>
          <p:cNvPr id="6" name="Text 4"/>
          <p:cNvSpPr/>
          <p:nvPr/>
        </p:nvSpPr>
        <p:spPr>
          <a:xfrm>
            <a:off x="7635240" y="1554480"/>
            <a:ext cx="379476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Gap Left Open</a:t>
            </a:r>
            <a:endParaRPr lang="en-US" sz="1100" dirty="0"/>
          </a:p>
        </p:txBody>
      </p:sp>
      <p:sp>
        <p:nvSpPr>
          <p:cNvPr id="7" name="Shape 5"/>
          <p:cNvSpPr/>
          <p:nvPr/>
        </p:nvSpPr>
        <p:spPr>
          <a:xfrm>
            <a:off x="548640" y="1920240"/>
            <a:ext cx="11064240" cy="0"/>
          </a:xfrm>
          <a:prstGeom prst="line">
            <a:avLst/>
          </a:prstGeom>
          <a:noFill/>
          <a:ln w="19050">
            <a:solidFill>
              <a:srgbClr val="2EC4B6"/>
            </a:solidFill>
            <a:prstDash val="solid"/>
          </a:ln>
        </p:spPr>
      </p:sp>
      <p:sp>
        <p:nvSpPr>
          <p:cNvPr id="8" name="Shape 6"/>
          <p:cNvSpPr/>
          <p:nvPr/>
        </p:nvSpPr>
        <p:spPr>
          <a:xfrm>
            <a:off x="548640" y="2057400"/>
            <a:ext cx="11064240" cy="749808"/>
          </a:xfrm>
          <a:prstGeom prst="rect">
            <a:avLst/>
          </a:prstGeom>
          <a:solidFill>
            <a:srgbClr val="FFFFFF"/>
          </a:solidFill>
          <a:ln/>
        </p:spPr>
      </p:sp>
      <p:sp>
        <p:nvSpPr>
          <p:cNvPr id="9" name="Shape 7"/>
          <p:cNvSpPr/>
          <p:nvPr/>
        </p:nvSpPr>
        <p:spPr>
          <a:xfrm>
            <a:off x="548640" y="2057400"/>
            <a:ext cx="73152" cy="749808"/>
          </a:xfrm>
          <a:prstGeom prst="rect">
            <a:avLst/>
          </a:prstGeom>
          <a:solidFill>
            <a:srgbClr val="F5A623"/>
          </a:solidFill>
          <a:ln/>
        </p:spPr>
      </p:sp>
      <p:sp>
        <p:nvSpPr>
          <p:cNvPr id="10" name="Text 8"/>
          <p:cNvSpPr/>
          <p:nvPr/>
        </p:nvSpPr>
        <p:spPr>
          <a:xfrm>
            <a:off x="868680" y="2057400"/>
            <a:ext cx="2606040" cy="749808"/>
          </a:xfrm>
          <a:prstGeom prst="rect">
            <a:avLst/>
          </a:prstGeom>
          <a:noFill/>
          <a:ln/>
        </p:spPr>
        <p:txBody>
          <a:bodyPr wrap="square" lIns="635" tIns="635" rIns="635" bIns="635" rtlCol="0" anchor="ctr"/>
          <a:lstStyle/>
          <a:p>
            <a:pPr indent="0" marL="0">
              <a:lnSpc>
                <a:spcPct val="105000"/>
              </a:lnSpc>
              <a:buNone/>
            </a:pPr>
            <a:r>
              <a:rPr lang="en-US" sz="1150" b="1" dirty="0">
                <a:solidFill>
                  <a:srgbClr val="16234A"/>
                </a:solidFill>
                <a:latin typeface="Calibri" pitchFamily="34" charset="0"/>
                <a:ea typeface="Calibri" pitchFamily="34" charset="-122"/>
                <a:cs typeface="Calibri" pitchFamily="34" charset="-120"/>
              </a:rPr>
              <a:t>Toran et al. (2023)</a:t>
            </a:r>
            <a:endParaRPr lang="en-US" sz="1150" dirty="0"/>
          </a:p>
        </p:txBody>
      </p:sp>
      <p:sp>
        <p:nvSpPr>
          <p:cNvPr id="11" name="Text 9"/>
          <p:cNvSpPr/>
          <p:nvPr/>
        </p:nvSpPr>
        <p:spPr>
          <a:xfrm>
            <a:off x="3611880" y="2057400"/>
            <a:ext cx="3886200" cy="749808"/>
          </a:xfrm>
          <a:prstGeom prst="rect">
            <a:avLst/>
          </a:prstGeom>
          <a:noFill/>
          <a:ln/>
        </p:spPr>
        <p:txBody>
          <a:bodyPr wrap="square" lIns="635" tIns="635" rIns="635" bIns="635" rtlCol="0" anchor="ctr"/>
          <a:lstStyle/>
          <a:p>
            <a:pPr indent="0" marL="0">
              <a:lnSpc>
                <a:spcPct val="105000"/>
              </a:lnSpc>
              <a:buNone/>
            </a:pPr>
            <a:r>
              <a:rPr lang="en-US" sz="1100" dirty="0">
                <a:solidFill>
                  <a:srgbClr val="5A6472"/>
                </a:solidFill>
                <a:latin typeface="Calibri" pitchFamily="34" charset="0"/>
                <a:ea typeface="Calibri" pitchFamily="34" charset="-122"/>
                <a:cs typeface="Calibri" pitchFamily="34" charset="-120"/>
              </a:rPr>
              <a:t>Weakly supervised NLP + deep learning to classify messy bank transaction text</a:t>
            </a:r>
            <a:endParaRPr lang="en-US" sz="1100" dirty="0"/>
          </a:p>
        </p:txBody>
      </p:sp>
      <p:sp>
        <p:nvSpPr>
          <p:cNvPr id="12" name="Text 10"/>
          <p:cNvSpPr/>
          <p:nvPr/>
        </p:nvSpPr>
        <p:spPr>
          <a:xfrm>
            <a:off x="7635240" y="2057400"/>
            <a:ext cx="3794760" cy="749808"/>
          </a:xfrm>
          <a:prstGeom prst="rect">
            <a:avLst/>
          </a:prstGeom>
          <a:noFill/>
          <a:ln/>
        </p:spPr>
        <p:txBody>
          <a:bodyPr wrap="square" lIns="635" tIns="635" rIns="635" bIns="635" rtlCol="0" anchor="ctr"/>
          <a:lstStyle/>
          <a:p>
            <a:pPr indent="0" marL="0">
              <a:lnSpc>
                <a:spcPct val="105000"/>
              </a:lnSpc>
              <a:buNone/>
            </a:pPr>
            <a:r>
              <a:rPr lang="en-US" sz="1100" i="1" dirty="0">
                <a:solidFill>
                  <a:srgbClr val="E24A3B"/>
                </a:solidFill>
                <a:latin typeface="Calibri" pitchFamily="34" charset="0"/>
                <a:ea typeface="Calibri" pitchFamily="34" charset="-122"/>
                <a:cs typeface="Calibri" pitchFamily="34" charset="-120"/>
              </a:rPr>
              <a:t>No recurrence or subscription detection</a:t>
            </a:r>
            <a:endParaRPr lang="en-US" sz="1100" dirty="0"/>
          </a:p>
        </p:txBody>
      </p:sp>
      <p:sp>
        <p:nvSpPr>
          <p:cNvPr id="13" name="Shape 11"/>
          <p:cNvSpPr/>
          <p:nvPr/>
        </p:nvSpPr>
        <p:spPr>
          <a:xfrm>
            <a:off x="548640" y="2862072"/>
            <a:ext cx="11064240" cy="749808"/>
          </a:xfrm>
          <a:prstGeom prst="rect">
            <a:avLst/>
          </a:prstGeom>
          <a:solidFill>
            <a:srgbClr val="F4F6FA"/>
          </a:solidFill>
          <a:ln/>
        </p:spPr>
      </p:sp>
      <p:sp>
        <p:nvSpPr>
          <p:cNvPr id="14" name="Shape 12"/>
          <p:cNvSpPr/>
          <p:nvPr/>
        </p:nvSpPr>
        <p:spPr>
          <a:xfrm>
            <a:off x="548640" y="2862072"/>
            <a:ext cx="73152" cy="749808"/>
          </a:xfrm>
          <a:prstGeom prst="rect">
            <a:avLst/>
          </a:prstGeom>
          <a:solidFill>
            <a:srgbClr val="2EC4B6"/>
          </a:solidFill>
          <a:ln/>
        </p:spPr>
      </p:sp>
      <p:sp>
        <p:nvSpPr>
          <p:cNvPr id="15" name="Text 13"/>
          <p:cNvSpPr/>
          <p:nvPr/>
        </p:nvSpPr>
        <p:spPr>
          <a:xfrm>
            <a:off x="868680" y="2862072"/>
            <a:ext cx="2606040" cy="749808"/>
          </a:xfrm>
          <a:prstGeom prst="rect">
            <a:avLst/>
          </a:prstGeom>
          <a:noFill/>
          <a:ln/>
        </p:spPr>
        <p:txBody>
          <a:bodyPr wrap="square" lIns="635" tIns="635" rIns="635" bIns="635" rtlCol="0" anchor="ctr"/>
          <a:lstStyle/>
          <a:p>
            <a:pPr indent="0" marL="0">
              <a:lnSpc>
                <a:spcPct val="105000"/>
              </a:lnSpc>
              <a:buNone/>
            </a:pPr>
            <a:r>
              <a:rPr lang="en-US" sz="1150" b="1" dirty="0">
                <a:solidFill>
                  <a:srgbClr val="16234A"/>
                </a:solidFill>
                <a:latin typeface="Calibri" pitchFamily="34" charset="0"/>
                <a:ea typeface="Calibri" pitchFamily="34" charset="-122"/>
                <a:cs typeface="Calibri" pitchFamily="34" charset="-120"/>
              </a:rPr>
              <a:t>Aluffi et al. (2025)</a:t>
            </a:r>
            <a:endParaRPr lang="en-US" sz="1150" dirty="0"/>
          </a:p>
        </p:txBody>
      </p:sp>
      <p:sp>
        <p:nvSpPr>
          <p:cNvPr id="16" name="Text 14"/>
          <p:cNvSpPr/>
          <p:nvPr/>
        </p:nvSpPr>
        <p:spPr>
          <a:xfrm>
            <a:off x="3611880" y="2862072"/>
            <a:ext cx="3886200" cy="749808"/>
          </a:xfrm>
          <a:prstGeom prst="rect">
            <a:avLst/>
          </a:prstGeom>
          <a:noFill/>
          <a:ln/>
        </p:spPr>
        <p:txBody>
          <a:bodyPr wrap="square" lIns="635" tIns="635" rIns="635" bIns="635" rtlCol="0" anchor="ctr"/>
          <a:lstStyle/>
          <a:p>
            <a:pPr indent="0" marL="0">
              <a:lnSpc>
                <a:spcPct val="105000"/>
              </a:lnSpc>
              <a:buNone/>
            </a:pPr>
            <a:r>
              <a:rPr lang="en-US" sz="1100" dirty="0">
                <a:solidFill>
                  <a:srgbClr val="5A6472"/>
                </a:solidFill>
                <a:latin typeface="Calibri" pitchFamily="34" charset="0"/>
                <a:ea typeface="Calibri" pitchFamily="34" charset="-122"/>
                <a:cs typeface="Calibri" pitchFamily="34" charset="-120"/>
              </a:rPr>
              <a:t>Synthetic data generation for classifying SME (business) transactions</a:t>
            </a:r>
            <a:endParaRPr lang="en-US" sz="1100" dirty="0"/>
          </a:p>
        </p:txBody>
      </p:sp>
      <p:sp>
        <p:nvSpPr>
          <p:cNvPr id="17" name="Text 15"/>
          <p:cNvSpPr/>
          <p:nvPr/>
        </p:nvSpPr>
        <p:spPr>
          <a:xfrm>
            <a:off x="7635240" y="2862072"/>
            <a:ext cx="3794760" cy="749808"/>
          </a:xfrm>
          <a:prstGeom prst="rect">
            <a:avLst/>
          </a:prstGeom>
          <a:noFill/>
          <a:ln/>
        </p:spPr>
        <p:txBody>
          <a:bodyPr wrap="square" lIns="635" tIns="635" rIns="635" bIns="635" rtlCol="0" anchor="ctr"/>
          <a:lstStyle/>
          <a:p>
            <a:pPr indent="0" marL="0">
              <a:lnSpc>
                <a:spcPct val="105000"/>
              </a:lnSpc>
              <a:buNone/>
            </a:pPr>
            <a:r>
              <a:rPr lang="en-US" sz="1100" i="1" dirty="0">
                <a:solidFill>
                  <a:srgbClr val="E24A3B"/>
                </a:solidFill>
                <a:latin typeface="Calibri" pitchFamily="34" charset="0"/>
                <a:ea typeface="Calibri" pitchFamily="34" charset="-122"/>
                <a:cs typeface="Calibri" pitchFamily="34" charset="-120"/>
              </a:rPr>
              <a:t>Business-focused; not built for personal subscriptions</a:t>
            </a:r>
            <a:endParaRPr lang="en-US" sz="1100" dirty="0"/>
          </a:p>
        </p:txBody>
      </p:sp>
      <p:sp>
        <p:nvSpPr>
          <p:cNvPr id="18" name="Shape 16"/>
          <p:cNvSpPr/>
          <p:nvPr/>
        </p:nvSpPr>
        <p:spPr>
          <a:xfrm>
            <a:off x="548640" y="3666744"/>
            <a:ext cx="11064240" cy="749808"/>
          </a:xfrm>
          <a:prstGeom prst="rect">
            <a:avLst/>
          </a:prstGeom>
          <a:solidFill>
            <a:srgbClr val="FFFFFF"/>
          </a:solidFill>
          <a:ln/>
        </p:spPr>
      </p:sp>
      <p:sp>
        <p:nvSpPr>
          <p:cNvPr id="19" name="Shape 17"/>
          <p:cNvSpPr/>
          <p:nvPr/>
        </p:nvSpPr>
        <p:spPr>
          <a:xfrm>
            <a:off x="548640" y="3666744"/>
            <a:ext cx="73152" cy="749808"/>
          </a:xfrm>
          <a:prstGeom prst="rect">
            <a:avLst/>
          </a:prstGeom>
          <a:solidFill>
            <a:srgbClr val="F5A623"/>
          </a:solidFill>
          <a:ln/>
        </p:spPr>
      </p:sp>
      <p:sp>
        <p:nvSpPr>
          <p:cNvPr id="20" name="Text 18"/>
          <p:cNvSpPr/>
          <p:nvPr/>
        </p:nvSpPr>
        <p:spPr>
          <a:xfrm>
            <a:off x="868680" y="3666744"/>
            <a:ext cx="2606040" cy="749808"/>
          </a:xfrm>
          <a:prstGeom prst="rect">
            <a:avLst/>
          </a:prstGeom>
          <a:noFill/>
          <a:ln/>
        </p:spPr>
        <p:txBody>
          <a:bodyPr wrap="square" lIns="635" tIns="635" rIns="635" bIns="635" rtlCol="0" anchor="ctr"/>
          <a:lstStyle/>
          <a:p>
            <a:pPr indent="0" marL="0">
              <a:lnSpc>
                <a:spcPct val="105000"/>
              </a:lnSpc>
              <a:buNone/>
            </a:pPr>
            <a:r>
              <a:rPr lang="en-US" sz="1150" b="1" dirty="0">
                <a:solidFill>
                  <a:srgbClr val="16234A"/>
                </a:solidFill>
                <a:latin typeface="Calibri" pitchFamily="34" charset="0"/>
                <a:ea typeface="Calibri" pitchFamily="34" charset="-122"/>
                <a:cs typeface="Calibri" pitchFamily="34" charset="-120"/>
              </a:rPr>
              <a:t>Subscription Churn Window Study (2026)</a:t>
            </a:r>
            <a:endParaRPr lang="en-US" sz="1150" dirty="0"/>
          </a:p>
        </p:txBody>
      </p:sp>
      <p:sp>
        <p:nvSpPr>
          <p:cNvPr id="21" name="Text 19"/>
          <p:cNvSpPr/>
          <p:nvPr/>
        </p:nvSpPr>
        <p:spPr>
          <a:xfrm>
            <a:off x="3611880" y="3666744"/>
            <a:ext cx="3886200" cy="749808"/>
          </a:xfrm>
          <a:prstGeom prst="rect">
            <a:avLst/>
          </a:prstGeom>
          <a:noFill/>
          <a:ln/>
        </p:spPr>
        <p:txBody>
          <a:bodyPr wrap="square" lIns="635" tIns="635" rIns="635" bIns="635" rtlCol="0" anchor="ctr"/>
          <a:lstStyle/>
          <a:p>
            <a:pPr indent="0" marL="0">
              <a:lnSpc>
                <a:spcPct val="105000"/>
              </a:lnSpc>
              <a:buNone/>
            </a:pPr>
            <a:r>
              <a:rPr lang="en-US" sz="1100" dirty="0">
                <a:solidFill>
                  <a:srgbClr val="5A6472"/>
                </a:solidFill>
                <a:latin typeface="Calibri" pitchFamily="34" charset="0"/>
                <a:ea typeface="Calibri" pitchFamily="34" charset="-122"/>
                <a:cs typeface="Calibri" pitchFamily="34" charset="-120"/>
              </a:rPr>
              <a:t>How much usage history is needed before churn prediction is reliable</a:t>
            </a:r>
            <a:endParaRPr lang="en-US" sz="1100" dirty="0"/>
          </a:p>
        </p:txBody>
      </p:sp>
      <p:sp>
        <p:nvSpPr>
          <p:cNvPr id="22" name="Text 20"/>
          <p:cNvSpPr/>
          <p:nvPr/>
        </p:nvSpPr>
        <p:spPr>
          <a:xfrm>
            <a:off x="7635240" y="3666744"/>
            <a:ext cx="3794760" cy="749808"/>
          </a:xfrm>
          <a:prstGeom prst="rect">
            <a:avLst/>
          </a:prstGeom>
          <a:noFill/>
          <a:ln/>
        </p:spPr>
        <p:txBody>
          <a:bodyPr wrap="square" lIns="635" tIns="635" rIns="635" bIns="635" rtlCol="0" anchor="ctr"/>
          <a:lstStyle/>
          <a:p>
            <a:pPr indent="0" marL="0">
              <a:lnSpc>
                <a:spcPct val="105000"/>
              </a:lnSpc>
              <a:buNone/>
            </a:pPr>
            <a:r>
              <a:rPr lang="en-US" sz="1100" i="1" dirty="0">
                <a:solidFill>
                  <a:srgbClr val="E24A3B"/>
                </a:solidFill>
                <a:latin typeface="Calibri" pitchFamily="34" charset="0"/>
                <a:ea typeface="Calibri" pitchFamily="34" charset="-122"/>
                <a:cs typeface="Calibri" pitchFamily="34" charset="-120"/>
              </a:rPr>
              <a:t>Needs the provider's internal usage data</a:t>
            </a:r>
            <a:endParaRPr lang="en-US" sz="1100" dirty="0"/>
          </a:p>
        </p:txBody>
      </p:sp>
      <p:sp>
        <p:nvSpPr>
          <p:cNvPr id="23" name="Shape 21"/>
          <p:cNvSpPr/>
          <p:nvPr/>
        </p:nvSpPr>
        <p:spPr>
          <a:xfrm>
            <a:off x="548640" y="4471416"/>
            <a:ext cx="11064240" cy="749808"/>
          </a:xfrm>
          <a:prstGeom prst="rect">
            <a:avLst/>
          </a:prstGeom>
          <a:solidFill>
            <a:srgbClr val="F4F6FA"/>
          </a:solidFill>
          <a:ln/>
        </p:spPr>
      </p:sp>
      <p:sp>
        <p:nvSpPr>
          <p:cNvPr id="24" name="Shape 22"/>
          <p:cNvSpPr/>
          <p:nvPr/>
        </p:nvSpPr>
        <p:spPr>
          <a:xfrm>
            <a:off x="548640" y="4471416"/>
            <a:ext cx="73152" cy="749808"/>
          </a:xfrm>
          <a:prstGeom prst="rect">
            <a:avLst/>
          </a:prstGeom>
          <a:solidFill>
            <a:srgbClr val="2EC4B6"/>
          </a:solidFill>
          <a:ln/>
        </p:spPr>
      </p:sp>
      <p:sp>
        <p:nvSpPr>
          <p:cNvPr id="25" name="Text 23"/>
          <p:cNvSpPr/>
          <p:nvPr/>
        </p:nvSpPr>
        <p:spPr>
          <a:xfrm>
            <a:off x="868680" y="4471416"/>
            <a:ext cx="2606040" cy="749808"/>
          </a:xfrm>
          <a:prstGeom prst="rect">
            <a:avLst/>
          </a:prstGeom>
          <a:noFill/>
          <a:ln/>
        </p:spPr>
        <p:txBody>
          <a:bodyPr wrap="square" lIns="635" tIns="635" rIns="635" bIns="635" rtlCol="0" anchor="ctr"/>
          <a:lstStyle/>
          <a:p>
            <a:pPr indent="0" marL="0">
              <a:lnSpc>
                <a:spcPct val="105000"/>
              </a:lnSpc>
              <a:buNone/>
            </a:pPr>
            <a:r>
              <a:rPr lang="en-US" sz="1150" b="1" dirty="0">
                <a:solidFill>
                  <a:srgbClr val="16234A"/>
                </a:solidFill>
                <a:latin typeface="Calibri" pitchFamily="34" charset="0"/>
                <a:ea typeface="Calibri" pitchFamily="34" charset="-122"/>
                <a:cs typeface="Calibri" pitchFamily="34" charset="-120"/>
              </a:rPr>
              <a:t>Explainable Churn Risk Modeling (2025)</a:t>
            </a:r>
            <a:endParaRPr lang="en-US" sz="1150" dirty="0"/>
          </a:p>
        </p:txBody>
      </p:sp>
      <p:sp>
        <p:nvSpPr>
          <p:cNvPr id="26" name="Text 24"/>
          <p:cNvSpPr/>
          <p:nvPr/>
        </p:nvSpPr>
        <p:spPr>
          <a:xfrm>
            <a:off x="3611880" y="4471416"/>
            <a:ext cx="3886200" cy="749808"/>
          </a:xfrm>
          <a:prstGeom prst="rect">
            <a:avLst/>
          </a:prstGeom>
          <a:noFill/>
          <a:ln/>
        </p:spPr>
        <p:txBody>
          <a:bodyPr wrap="square" lIns="635" tIns="635" rIns="635" bIns="635" rtlCol="0" anchor="ctr"/>
          <a:lstStyle/>
          <a:p>
            <a:pPr indent="0" marL="0">
              <a:lnSpc>
                <a:spcPct val="105000"/>
              </a:lnSpc>
              <a:buNone/>
            </a:pPr>
            <a:r>
              <a:rPr lang="en-US" sz="1100" dirty="0">
                <a:solidFill>
                  <a:srgbClr val="5A6472"/>
                </a:solidFill>
                <a:latin typeface="Calibri" pitchFamily="34" charset="0"/>
                <a:ea typeface="Calibri" pitchFamily="34" charset="-122"/>
                <a:cs typeface="Calibri" pitchFamily="34" charset="-120"/>
              </a:rPr>
              <a:t>Interpretable, segmentation-based churn/risk scores</a:t>
            </a:r>
            <a:endParaRPr lang="en-US" sz="1100" dirty="0"/>
          </a:p>
        </p:txBody>
      </p:sp>
      <p:sp>
        <p:nvSpPr>
          <p:cNvPr id="27" name="Text 25"/>
          <p:cNvSpPr/>
          <p:nvPr/>
        </p:nvSpPr>
        <p:spPr>
          <a:xfrm>
            <a:off x="7635240" y="4471416"/>
            <a:ext cx="3794760" cy="749808"/>
          </a:xfrm>
          <a:prstGeom prst="rect">
            <a:avLst/>
          </a:prstGeom>
          <a:noFill/>
          <a:ln/>
        </p:spPr>
        <p:txBody>
          <a:bodyPr wrap="square" lIns="635" tIns="635" rIns="635" bIns="635" rtlCol="0" anchor="ctr"/>
          <a:lstStyle/>
          <a:p>
            <a:pPr indent="0" marL="0">
              <a:lnSpc>
                <a:spcPct val="105000"/>
              </a:lnSpc>
              <a:buNone/>
            </a:pPr>
            <a:r>
              <a:rPr lang="en-US" sz="1100" i="1" dirty="0">
                <a:solidFill>
                  <a:srgbClr val="E24A3B"/>
                </a:solidFill>
                <a:latin typeface="Calibri" pitchFamily="34" charset="0"/>
                <a:ea typeface="Calibri" pitchFamily="34" charset="-122"/>
                <a:cs typeface="Calibri" pitchFamily="34" charset="-120"/>
              </a:rPr>
              <a:t>Built for retention teams, not consumer self-diagnosis</a:t>
            </a:r>
            <a:endParaRPr lang="en-US" sz="1100" dirty="0"/>
          </a:p>
        </p:txBody>
      </p:sp>
      <p:sp>
        <p:nvSpPr>
          <p:cNvPr id="28" name="Shape 26"/>
          <p:cNvSpPr/>
          <p:nvPr/>
        </p:nvSpPr>
        <p:spPr>
          <a:xfrm>
            <a:off x="548640" y="5276088"/>
            <a:ext cx="11064240" cy="749808"/>
          </a:xfrm>
          <a:prstGeom prst="rect">
            <a:avLst/>
          </a:prstGeom>
          <a:solidFill>
            <a:srgbClr val="FFFFFF"/>
          </a:solidFill>
          <a:ln/>
        </p:spPr>
      </p:sp>
      <p:sp>
        <p:nvSpPr>
          <p:cNvPr id="29" name="Shape 27"/>
          <p:cNvSpPr/>
          <p:nvPr/>
        </p:nvSpPr>
        <p:spPr>
          <a:xfrm>
            <a:off x="548640" y="5276088"/>
            <a:ext cx="73152" cy="749808"/>
          </a:xfrm>
          <a:prstGeom prst="rect">
            <a:avLst/>
          </a:prstGeom>
          <a:solidFill>
            <a:srgbClr val="F5A623"/>
          </a:solidFill>
          <a:ln/>
        </p:spPr>
      </p:sp>
      <p:sp>
        <p:nvSpPr>
          <p:cNvPr id="30" name="Text 28"/>
          <p:cNvSpPr/>
          <p:nvPr/>
        </p:nvSpPr>
        <p:spPr>
          <a:xfrm>
            <a:off x="868680" y="5276088"/>
            <a:ext cx="2606040" cy="749808"/>
          </a:xfrm>
          <a:prstGeom prst="rect">
            <a:avLst/>
          </a:prstGeom>
          <a:noFill/>
          <a:ln/>
        </p:spPr>
        <p:txBody>
          <a:bodyPr wrap="square" lIns="635" tIns="635" rIns="635" bIns="635" rtlCol="0" anchor="ctr"/>
          <a:lstStyle/>
          <a:p>
            <a:pPr indent="0" marL="0">
              <a:lnSpc>
                <a:spcPct val="105000"/>
              </a:lnSpc>
              <a:buNone/>
            </a:pPr>
            <a:r>
              <a:rPr lang="en-US" sz="1150" b="1" dirty="0">
                <a:solidFill>
                  <a:srgbClr val="16234A"/>
                </a:solidFill>
                <a:latin typeface="Calibri" pitchFamily="34" charset="0"/>
                <a:ea typeface="Calibri" pitchFamily="34" charset="-122"/>
                <a:cs typeface="Calibri" pitchFamily="34" charset="-120"/>
              </a:rPr>
              <a:t>García-Méndez et al. (2020/2024)</a:t>
            </a:r>
            <a:endParaRPr lang="en-US" sz="1150" dirty="0"/>
          </a:p>
        </p:txBody>
      </p:sp>
      <p:sp>
        <p:nvSpPr>
          <p:cNvPr id="31" name="Text 29"/>
          <p:cNvSpPr/>
          <p:nvPr/>
        </p:nvSpPr>
        <p:spPr>
          <a:xfrm>
            <a:off x="3611880" y="5276088"/>
            <a:ext cx="3886200" cy="749808"/>
          </a:xfrm>
          <a:prstGeom prst="rect">
            <a:avLst/>
          </a:prstGeom>
          <a:noFill/>
          <a:ln/>
        </p:spPr>
        <p:txBody>
          <a:bodyPr wrap="square" lIns="635" tIns="635" rIns="635" bIns="635" rtlCol="0" anchor="ctr"/>
          <a:lstStyle/>
          <a:p>
            <a:pPr indent="0" marL="0">
              <a:lnSpc>
                <a:spcPct val="105000"/>
              </a:lnSpc>
              <a:buNone/>
            </a:pPr>
            <a:r>
              <a:rPr lang="en-US" sz="1100" dirty="0">
                <a:solidFill>
                  <a:srgbClr val="5A6472"/>
                </a:solidFill>
                <a:latin typeface="Calibri" pitchFamily="34" charset="0"/>
                <a:ea typeface="Calibri" pitchFamily="34" charset="-122"/>
                <a:cs typeface="Calibri" pitchFamily="34" charset="-120"/>
              </a:rPr>
              <a:t>SVM-based short-text classification of cryptic transaction descriptions</a:t>
            </a:r>
            <a:endParaRPr lang="en-US" sz="1100" dirty="0"/>
          </a:p>
        </p:txBody>
      </p:sp>
      <p:sp>
        <p:nvSpPr>
          <p:cNvPr id="32" name="Text 30"/>
          <p:cNvSpPr/>
          <p:nvPr/>
        </p:nvSpPr>
        <p:spPr>
          <a:xfrm>
            <a:off x="7635240" y="5276088"/>
            <a:ext cx="3794760" cy="749808"/>
          </a:xfrm>
          <a:prstGeom prst="rect">
            <a:avLst/>
          </a:prstGeom>
          <a:noFill/>
          <a:ln/>
        </p:spPr>
        <p:txBody>
          <a:bodyPr wrap="square" lIns="635" tIns="635" rIns="635" bIns="635" rtlCol="0" anchor="ctr"/>
          <a:lstStyle/>
          <a:p>
            <a:pPr indent="0" marL="0">
              <a:lnSpc>
                <a:spcPct val="105000"/>
              </a:lnSpc>
              <a:buNone/>
            </a:pPr>
            <a:r>
              <a:rPr lang="en-US" sz="1100" i="1" dirty="0">
                <a:solidFill>
                  <a:srgbClr val="E24A3B"/>
                </a:solidFill>
                <a:latin typeface="Calibri" pitchFamily="34" charset="0"/>
                <a:ea typeface="Calibri" pitchFamily="34" charset="-122"/>
                <a:cs typeface="Calibri" pitchFamily="34" charset="-120"/>
              </a:rPr>
              <a:t>General spending categories only; no price-creep tracking</a:t>
            </a:r>
            <a:endParaRPr lang="en-US" sz="1100" dirty="0"/>
          </a:p>
        </p:txBody>
      </p:sp>
      <p:sp>
        <p:nvSpPr>
          <p:cNvPr id="33" name="Shape 31"/>
          <p:cNvSpPr/>
          <p:nvPr/>
        </p:nvSpPr>
        <p:spPr>
          <a:xfrm>
            <a:off x="11475720" y="6263640"/>
            <a:ext cx="502920" cy="502920"/>
          </a:xfrm>
          <a:prstGeom prst="ellipse">
            <a:avLst/>
          </a:prstGeom>
          <a:solidFill>
            <a:srgbClr val="16234A"/>
          </a:solidFill>
          <a:ln/>
        </p:spPr>
      </p:sp>
      <p:sp>
        <p:nvSpPr>
          <p:cNvPr id="34" name="Text 32"/>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CONNECTING THE DOTS</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Core Insights &amp; Research Gap</a:t>
            </a:r>
            <a:endParaRPr lang="en-US" sz="3000" dirty="0"/>
          </a:p>
        </p:txBody>
      </p:sp>
      <p:sp>
        <p:nvSpPr>
          <p:cNvPr id="4"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250" i="1" dirty="0">
                <a:solidFill>
                  <a:srgbClr val="5A6472"/>
                </a:solidFill>
                <a:latin typeface="Calibri" pitchFamily="34" charset="0"/>
                <a:ea typeface="Calibri" pitchFamily="34" charset="-122"/>
                <a:cs typeface="Calibri" pitchFamily="34" charset="-120"/>
              </a:rPr>
              <a:t>What every prior study is missing — and what our system uniquely delivers:</a:t>
            </a:r>
            <a:endParaRPr lang="en-US" sz="1250" dirty="0"/>
          </a:p>
        </p:txBody>
      </p:sp>
      <p:sp>
        <p:nvSpPr>
          <p:cNvPr id="5" name="Text 3"/>
          <p:cNvSpPr/>
          <p:nvPr/>
        </p:nvSpPr>
        <p:spPr>
          <a:xfrm>
            <a:off x="548640" y="1691640"/>
            <a:ext cx="5303520" cy="320040"/>
          </a:xfrm>
          <a:prstGeom prst="rect">
            <a:avLst/>
          </a:prstGeom>
          <a:noFill/>
          <a:ln/>
        </p:spPr>
        <p:txBody>
          <a:bodyPr wrap="square" lIns="0" tIns="0" rIns="0" bIns="0" rtlCol="0" anchor="ctr"/>
          <a:lstStyle/>
          <a:p>
            <a:pPr indent="0" marL="0">
              <a:buNone/>
            </a:pPr>
            <a:r>
              <a:rPr lang="en-US" sz="1500" b="1" dirty="0">
                <a:solidFill>
                  <a:srgbClr val="2EC4B6"/>
                </a:solidFill>
                <a:latin typeface="Cambria" pitchFamily="34" charset="0"/>
                <a:ea typeface="Cambria" pitchFamily="34" charset="-122"/>
                <a:cs typeface="Cambria" pitchFamily="34" charset="-120"/>
              </a:rPr>
              <a:t>What We Learned</a:t>
            </a:r>
            <a:endParaRPr lang="en-US" sz="1500" dirty="0"/>
          </a:p>
        </p:txBody>
      </p:sp>
      <p:sp>
        <p:nvSpPr>
          <p:cNvPr id="6" name="Shape 4"/>
          <p:cNvSpPr/>
          <p:nvPr/>
        </p:nvSpPr>
        <p:spPr>
          <a:xfrm>
            <a:off x="548640" y="2103120"/>
            <a:ext cx="5303520" cy="932688"/>
          </a:xfrm>
          <a:prstGeom prst="rect">
            <a:avLst/>
          </a:prstGeom>
          <a:solidFill>
            <a:srgbClr val="F4F6FA"/>
          </a:solidFill>
          <a:ln w="15875">
            <a:solidFill>
              <a:srgbClr val="2EC4B6"/>
            </a:solidFill>
            <a:prstDash val="solid"/>
          </a:ln>
        </p:spPr>
      </p:sp>
      <p:sp>
        <p:nvSpPr>
          <p:cNvPr id="7" name="Shape 5"/>
          <p:cNvSpPr/>
          <p:nvPr/>
        </p:nvSpPr>
        <p:spPr>
          <a:xfrm>
            <a:off x="777240" y="2386584"/>
            <a:ext cx="365760" cy="365760"/>
          </a:xfrm>
          <a:prstGeom prst="ellipse">
            <a:avLst/>
          </a:prstGeom>
          <a:solidFill>
            <a:srgbClr val="2EC4B6"/>
          </a:solidFill>
          <a:ln/>
        </p:spPr>
      </p:sp>
      <p:sp>
        <p:nvSpPr>
          <p:cNvPr id="8" name="Text 6"/>
          <p:cNvSpPr/>
          <p:nvPr/>
        </p:nvSpPr>
        <p:spPr>
          <a:xfrm>
            <a:off x="777240" y="23865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01</a:t>
            </a:r>
            <a:endParaRPr lang="en-US" sz="1150" dirty="0"/>
          </a:p>
        </p:txBody>
      </p:sp>
      <p:sp>
        <p:nvSpPr>
          <p:cNvPr id="9" name="Text 7"/>
          <p:cNvSpPr/>
          <p:nvPr/>
        </p:nvSpPr>
        <p:spPr>
          <a:xfrm>
            <a:off x="1325880" y="2103120"/>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NLP + fuzzy matching reliably resolves messy merchant names without deep neural networks</a:t>
            </a:r>
            <a:endParaRPr lang="en-US" sz="1150" dirty="0"/>
          </a:p>
        </p:txBody>
      </p:sp>
      <p:sp>
        <p:nvSpPr>
          <p:cNvPr id="10" name="Shape 8"/>
          <p:cNvSpPr/>
          <p:nvPr/>
        </p:nvSpPr>
        <p:spPr>
          <a:xfrm>
            <a:off x="548640" y="3172968"/>
            <a:ext cx="5303520" cy="932688"/>
          </a:xfrm>
          <a:prstGeom prst="rect">
            <a:avLst/>
          </a:prstGeom>
          <a:solidFill>
            <a:srgbClr val="F4F6FA"/>
          </a:solidFill>
          <a:ln w="15875">
            <a:solidFill>
              <a:srgbClr val="2EC4B6"/>
            </a:solidFill>
            <a:prstDash val="solid"/>
          </a:ln>
        </p:spPr>
      </p:sp>
      <p:sp>
        <p:nvSpPr>
          <p:cNvPr id="11" name="Shape 9"/>
          <p:cNvSpPr/>
          <p:nvPr/>
        </p:nvSpPr>
        <p:spPr>
          <a:xfrm>
            <a:off x="777240" y="3456432"/>
            <a:ext cx="365760" cy="365760"/>
          </a:xfrm>
          <a:prstGeom prst="ellipse">
            <a:avLst/>
          </a:prstGeom>
          <a:solidFill>
            <a:srgbClr val="2EC4B6"/>
          </a:solidFill>
          <a:ln/>
        </p:spPr>
      </p:sp>
      <p:sp>
        <p:nvSpPr>
          <p:cNvPr id="12" name="Text 10"/>
          <p:cNvSpPr/>
          <p:nvPr/>
        </p:nvSpPr>
        <p:spPr>
          <a:xfrm>
            <a:off x="777240" y="345643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02</a:t>
            </a:r>
            <a:endParaRPr lang="en-US" sz="1150" dirty="0"/>
          </a:p>
        </p:txBody>
      </p:sp>
      <p:sp>
        <p:nvSpPr>
          <p:cNvPr id="13" name="Text 11"/>
          <p:cNvSpPr/>
          <p:nvPr/>
        </p:nvSpPr>
        <p:spPr>
          <a:xfrm>
            <a:off x="1325880" y="3172968"/>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Statistical periodicity analysis detects recurring charges without large labeled training sets</a:t>
            </a:r>
            <a:endParaRPr lang="en-US" sz="1150" dirty="0"/>
          </a:p>
        </p:txBody>
      </p:sp>
      <p:sp>
        <p:nvSpPr>
          <p:cNvPr id="14" name="Shape 12"/>
          <p:cNvSpPr/>
          <p:nvPr/>
        </p:nvSpPr>
        <p:spPr>
          <a:xfrm>
            <a:off x="548640" y="4242816"/>
            <a:ext cx="5303520" cy="932688"/>
          </a:xfrm>
          <a:prstGeom prst="rect">
            <a:avLst/>
          </a:prstGeom>
          <a:solidFill>
            <a:srgbClr val="F4F6FA"/>
          </a:solidFill>
          <a:ln w="15875">
            <a:solidFill>
              <a:srgbClr val="2EC4B6"/>
            </a:solidFill>
            <a:prstDash val="solid"/>
          </a:ln>
        </p:spPr>
      </p:sp>
      <p:sp>
        <p:nvSpPr>
          <p:cNvPr id="15" name="Shape 13"/>
          <p:cNvSpPr/>
          <p:nvPr/>
        </p:nvSpPr>
        <p:spPr>
          <a:xfrm>
            <a:off x="777240" y="4526280"/>
            <a:ext cx="365760" cy="365760"/>
          </a:xfrm>
          <a:prstGeom prst="ellipse">
            <a:avLst/>
          </a:prstGeom>
          <a:solidFill>
            <a:srgbClr val="2EC4B6"/>
          </a:solidFill>
          <a:ln/>
        </p:spPr>
      </p:sp>
      <p:sp>
        <p:nvSpPr>
          <p:cNvPr id="16" name="Text 14"/>
          <p:cNvSpPr/>
          <p:nvPr/>
        </p:nvSpPr>
        <p:spPr>
          <a:xfrm>
            <a:off x="777240" y="45262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03</a:t>
            </a:r>
            <a:endParaRPr lang="en-US" sz="1150" dirty="0"/>
          </a:p>
        </p:txBody>
      </p:sp>
      <p:sp>
        <p:nvSpPr>
          <p:cNvPr id="17" name="Text 15"/>
          <p:cNvSpPr/>
          <p:nvPr/>
        </p:nvSpPr>
        <p:spPr>
          <a:xfrm>
            <a:off x="1325880" y="4242816"/>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Explainability significantly increases user trust in automated financial risk flags</a:t>
            </a:r>
            <a:endParaRPr lang="en-US" sz="1150" dirty="0"/>
          </a:p>
        </p:txBody>
      </p:sp>
      <p:sp>
        <p:nvSpPr>
          <p:cNvPr id="18" name="Shape 16"/>
          <p:cNvSpPr/>
          <p:nvPr/>
        </p:nvSpPr>
        <p:spPr>
          <a:xfrm>
            <a:off x="548640" y="5312664"/>
            <a:ext cx="5303520" cy="932688"/>
          </a:xfrm>
          <a:prstGeom prst="rect">
            <a:avLst/>
          </a:prstGeom>
          <a:solidFill>
            <a:srgbClr val="F4F6FA"/>
          </a:solidFill>
          <a:ln w="15875">
            <a:solidFill>
              <a:srgbClr val="2EC4B6"/>
            </a:solidFill>
            <a:prstDash val="solid"/>
          </a:ln>
        </p:spPr>
      </p:sp>
      <p:sp>
        <p:nvSpPr>
          <p:cNvPr id="19" name="Shape 17"/>
          <p:cNvSpPr/>
          <p:nvPr/>
        </p:nvSpPr>
        <p:spPr>
          <a:xfrm>
            <a:off x="777240" y="5596128"/>
            <a:ext cx="365760" cy="365760"/>
          </a:xfrm>
          <a:prstGeom prst="ellipse">
            <a:avLst/>
          </a:prstGeom>
          <a:solidFill>
            <a:srgbClr val="2EC4B6"/>
          </a:solidFill>
          <a:ln/>
        </p:spPr>
      </p:sp>
      <p:sp>
        <p:nvSpPr>
          <p:cNvPr id="20" name="Text 18"/>
          <p:cNvSpPr/>
          <p:nvPr/>
        </p:nvSpPr>
        <p:spPr>
          <a:xfrm>
            <a:off x="777240" y="559612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04</a:t>
            </a:r>
            <a:endParaRPr lang="en-US" sz="1150" dirty="0"/>
          </a:p>
        </p:txBody>
      </p:sp>
      <p:sp>
        <p:nvSpPr>
          <p:cNvPr id="21" name="Text 19"/>
          <p:cNvSpPr/>
          <p:nvPr/>
        </p:nvSpPr>
        <p:spPr>
          <a:xfrm>
            <a:off x="1325880" y="5312664"/>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Active-learning feedback loops meaningfully improve model accuracy over time</a:t>
            </a:r>
            <a:endParaRPr lang="en-US" sz="1150" dirty="0"/>
          </a:p>
        </p:txBody>
      </p:sp>
      <p:sp>
        <p:nvSpPr>
          <p:cNvPr id="22" name="Text 20"/>
          <p:cNvSpPr/>
          <p:nvPr/>
        </p:nvSpPr>
        <p:spPr>
          <a:xfrm>
            <a:off x="6126480" y="1691640"/>
            <a:ext cx="5303520" cy="320040"/>
          </a:xfrm>
          <a:prstGeom prst="rect">
            <a:avLst/>
          </a:prstGeom>
          <a:noFill/>
          <a:ln/>
        </p:spPr>
        <p:txBody>
          <a:bodyPr wrap="square" lIns="0" tIns="0" rIns="0" bIns="0" rtlCol="0" anchor="ctr"/>
          <a:lstStyle/>
          <a:p>
            <a:pPr indent="0" marL="0">
              <a:buNone/>
            </a:pPr>
            <a:r>
              <a:rPr lang="en-US" sz="1500" b="1" dirty="0">
                <a:solidFill>
                  <a:srgbClr val="E24A3B"/>
                </a:solidFill>
                <a:latin typeface="Cambria" pitchFamily="34" charset="0"/>
                <a:ea typeface="Cambria" pitchFamily="34" charset="-122"/>
                <a:cs typeface="Cambria" pitchFamily="34" charset="-120"/>
              </a:rPr>
              <a:t>The Research Gap</a:t>
            </a:r>
            <a:endParaRPr lang="en-US" sz="1500" dirty="0"/>
          </a:p>
        </p:txBody>
      </p:sp>
      <p:sp>
        <p:nvSpPr>
          <p:cNvPr id="23" name="Shape 21"/>
          <p:cNvSpPr/>
          <p:nvPr/>
        </p:nvSpPr>
        <p:spPr>
          <a:xfrm>
            <a:off x="6126480" y="2103120"/>
            <a:ext cx="5303520" cy="932688"/>
          </a:xfrm>
          <a:prstGeom prst="rect">
            <a:avLst/>
          </a:prstGeom>
          <a:solidFill>
            <a:srgbClr val="F4F6FA"/>
          </a:solidFill>
          <a:ln w="15875">
            <a:solidFill>
              <a:srgbClr val="E24A3B"/>
            </a:solidFill>
            <a:prstDash val="solid"/>
          </a:ln>
        </p:spPr>
      </p:sp>
      <p:sp>
        <p:nvSpPr>
          <p:cNvPr id="24" name="Shape 22"/>
          <p:cNvSpPr/>
          <p:nvPr/>
        </p:nvSpPr>
        <p:spPr>
          <a:xfrm>
            <a:off x="6355080" y="2386584"/>
            <a:ext cx="365760" cy="365760"/>
          </a:xfrm>
          <a:prstGeom prst="ellipse">
            <a:avLst/>
          </a:prstGeom>
          <a:solidFill>
            <a:srgbClr val="E24A3B"/>
          </a:solidFill>
          <a:ln/>
        </p:spPr>
      </p:sp>
      <p:sp>
        <p:nvSpPr>
          <p:cNvPr id="25" name="Text 23"/>
          <p:cNvSpPr/>
          <p:nvPr/>
        </p:nvSpPr>
        <p:spPr>
          <a:xfrm>
            <a:off x="6355080" y="23865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01</a:t>
            </a:r>
            <a:endParaRPr lang="en-US" sz="1150" dirty="0"/>
          </a:p>
        </p:txBody>
      </p:sp>
      <p:sp>
        <p:nvSpPr>
          <p:cNvPr id="26" name="Text 24"/>
          <p:cNvSpPr/>
          <p:nvPr/>
        </p:nvSpPr>
        <p:spPr>
          <a:xfrm>
            <a:off x="6903720" y="2103120"/>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Merchant resolution + recurrence detection from raw bank-statement text</a:t>
            </a:r>
            <a:endParaRPr lang="en-US" sz="1150" dirty="0"/>
          </a:p>
        </p:txBody>
      </p:sp>
      <p:sp>
        <p:nvSpPr>
          <p:cNvPr id="27" name="Shape 25"/>
          <p:cNvSpPr/>
          <p:nvPr/>
        </p:nvSpPr>
        <p:spPr>
          <a:xfrm>
            <a:off x="6126480" y="3172968"/>
            <a:ext cx="5303520" cy="932688"/>
          </a:xfrm>
          <a:prstGeom prst="rect">
            <a:avLst/>
          </a:prstGeom>
          <a:solidFill>
            <a:srgbClr val="F4F6FA"/>
          </a:solidFill>
          <a:ln w="15875">
            <a:solidFill>
              <a:srgbClr val="E24A3B"/>
            </a:solidFill>
            <a:prstDash val="solid"/>
          </a:ln>
        </p:spPr>
      </p:sp>
      <p:sp>
        <p:nvSpPr>
          <p:cNvPr id="28" name="Shape 26"/>
          <p:cNvSpPr/>
          <p:nvPr/>
        </p:nvSpPr>
        <p:spPr>
          <a:xfrm>
            <a:off x="6355080" y="3456432"/>
            <a:ext cx="365760" cy="365760"/>
          </a:xfrm>
          <a:prstGeom prst="ellipse">
            <a:avLst/>
          </a:prstGeom>
          <a:solidFill>
            <a:srgbClr val="E24A3B"/>
          </a:solidFill>
          <a:ln/>
        </p:spPr>
      </p:sp>
      <p:sp>
        <p:nvSpPr>
          <p:cNvPr id="29" name="Text 27"/>
          <p:cNvSpPr/>
          <p:nvPr/>
        </p:nvSpPr>
        <p:spPr>
          <a:xfrm>
            <a:off x="6355080" y="345643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02</a:t>
            </a:r>
            <a:endParaRPr lang="en-US" sz="1150" dirty="0"/>
          </a:p>
        </p:txBody>
      </p:sp>
      <p:sp>
        <p:nvSpPr>
          <p:cNvPr id="30" name="Text 28"/>
          <p:cNvSpPr/>
          <p:nvPr/>
        </p:nvSpPr>
        <p:spPr>
          <a:xfrm>
            <a:off x="6903720" y="3172968"/>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Silent price-increase (“price-creep”) tracking per subscription over time</a:t>
            </a:r>
            <a:endParaRPr lang="en-US" sz="1150" dirty="0"/>
          </a:p>
        </p:txBody>
      </p:sp>
      <p:sp>
        <p:nvSpPr>
          <p:cNvPr id="31" name="Shape 29"/>
          <p:cNvSpPr/>
          <p:nvPr/>
        </p:nvSpPr>
        <p:spPr>
          <a:xfrm>
            <a:off x="6126480" y="4242816"/>
            <a:ext cx="5303520" cy="932688"/>
          </a:xfrm>
          <a:prstGeom prst="rect">
            <a:avLst/>
          </a:prstGeom>
          <a:solidFill>
            <a:srgbClr val="F4F6FA"/>
          </a:solidFill>
          <a:ln w="15875">
            <a:solidFill>
              <a:srgbClr val="E24A3B"/>
            </a:solidFill>
            <a:prstDash val="solid"/>
          </a:ln>
        </p:spPr>
      </p:sp>
      <p:sp>
        <p:nvSpPr>
          <p:cNvPr id="32" name="Shape 30"/>
          <p:cNvSpPr/>
          <p:nvPr/>
        </p:nvSpPr>
        <p:spPr>
          <a:xfrm>
            <a:off x="6355080" y="4526280"/>
            <a:ext cx="365760" cy="365760"/>
          </a:xfrm>
          <a:prstGeom prst="ellipse">
            <a:avLst/>
          </a:prstGeom>
          <a:solidFill>
            <a:srgbClr val="E24A3B"/>
          </a:solidFill>
          <a:ln/>
        </p:spPr>
      </p:sp>
      <p:sp>
        <p:nvSpPr>
          <p:cNvPr id="33" name="Text 31"/>
          <p:cNvSpPr/>
          <p:nvPr/>
        </p:nvSpPr>
        <p:spPr>
          <a:xfrm>
            <a:off x="6355080" y="45262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03</a:t>
            </a:r>
            <a:endParaRPr lang="en-US" sz="1150" dirty="0"/>
          </a:p>
        </p:txBody>
      </p:sp>
      <p:sp>
        <p:nvSpPr>
          <p:cNvPr id="34" name="Text 32"/>
          <p:cNvSpPr/>
          <p:nvPr/>
        </p:nvSpPr>
        <p:spPr>
          <a:xfrm>
            <a:off x="6903720" y="4242816"/>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Explainable, confidence-scored “cancel candidate” flags with human reasoning</a:t>
            </a:r>
            <a:endParaRPr lang="en-US" sz="1150" dirty="0"/>
          </a:p>
        </p:txBody>
      </p:sp>
      <p:sp>
        <p:nvSpPr>
          <p:cNvPr id="35" name="Shape 33"/>
          <p:cNvSpPr/>
          <p:nvPr/>
        </p:nvSpPr>
        <p:spPr>
          <a:xfrm>
            <a:off x="6126480" y="5312664"/>
            <a:ext cx="5303520" cy="932688"/>
          </a:xfrm>
          <a:prstGeom prst="rect">
            <a:avLst/>
          </a:prstGeom>
          <a:solidFill>
            <a:srgbClr val="F4F6FA"/>
          </a:solidFill>
          <a:ln w="15875">
            <a:solidFill>
              <a:srgbClr val="E24A3B"/>
            </a:solidFill>
            <a:prstDash val="solid"/>
          </a:ln>
        </p:spPr>
      </p:sp>
      <p:sp>
        <p:nvSpPr>
          <p:cNvPr id="36" name="Shape 34"/>
          <p:cNvSpPr/>
          <p:nvPr/>
        </p:nvSpPr>
        <p:spPr>
          <a:xfrm>
            <a:off x="6355080" y="5596128"/>
            <a:ext cx="365760" cy="365760"/>
          </a:xfrm>
          <a:prstGeom prst="ellipse">
            <a:avLst/>
          </a:prstGeom>
          <a:solidFill>
            <a:srgbClr val="E24A3B"/>
          </a:solidFill>
          <a:ln/>
        </p:spPr>
      </p:sp>
      <p:sp>
        <p:nvSpPr>
          <p:cNvPr id="37" name="Text 35"/>
          <p:cNvSpPr/>
          <p:nvPr/>
        </p:nvSpPr>
        <p:spPr>
          <a:xfrm>
            <a:off x="6355080" y="559612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04</a:t>
            </a:r>
            <a:endParaRPr lang="en-US" sz="1150" dirty="0"/>
          </a:p>
        </p:txBody>
      </p:sp>
      <p:sp>
        <p:nvSpPr>
          <p:cNvPr id="38" name="Text 36"/>
          <p:cNvSpPr/>
          <p:nvPr/>
        </p:nvSpPr>
        <p:spPr>
          <a:xfrm>
            <a:off x="6903720" y="5312664"/>
            <a:ext cx="4389120" cy="932688"/>
          </a:xfrm>
          <a:prstGeom prst="rect">
            <a:avLst/>
          </a:prstGeom>
          <a:noFill/>
          <a:ln/>
        </p:spPr>
        <p:txBody>
          <a:bodyPr wrap="square" lIns="635" tIns="635" rIns="635" bIns="635" rtlCol="0" anchor="ctr"/>
          <a:lstStyle/>
          <a:p>
            <a:pPr indent="0" marL="0">
              <a:lnSpc>
                <a:spcPct val="115000"/>
              </a:lnSpc>
              <a:buNone/>
            </a:pPr>
            <a:r>
              <a:rPr lang="en-US" sz="1150" dirty="0">
                <a:solidFill>
                  <a:srgbClr val="16234A"/>
                </a:solidFill>
                <a:latin typeface="Calibri" pitchFamily="34" charset="0"/>
                <a:ea typeface="Calibri" pitchFamily="34" charset="-122"/>
                <a:cs typeface="Calibri" pitchFamily="34" charset="-120"/>
              </a:rPr>
              <a:t>Interactive savings simulator paired with an active-learning feedback loop</a:t>
            </a:r>
            <a:endParaRPr lang="en-US" sz="1150" dirty="0"/>
          </a:p>
        </p:txBody>
      </p:sp>
      <p:sp>
        <p:nvSpPr>
          <p:cNvPr id="39" name="Shape 37"/>
          <p:cNvSpPr/>
          <p:nvPr/>
        </p:nvSpPr>
        <p:spPr>
          <a:xfrm>
            <a:off x="11475720" y="6263640"/>
            <a:ext cx="502920" cy="502920"/>
          </a:xfrm>
          <a:prstGeom prst="ellipse">
            <a:avLst/>
          </a:prstGeom>
          <a:solidFill>
            <a:srgbClr val="16234A"/>
          </a:solidFill>
          <a:ln/>
        </p:spPr>
      </p:sp>
      <p:sp>
        <p:nvSpPr>
          <p:cNvPr id="40" name="Text 38"/>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WHAT WE'RE BUILDING, AND HOW</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Objectives &amp; System Architecture</a:t>
            </a:r>
            <a:endParaRPr lang="en-US" sz="3000" dirty="0"/>
          </a:p>
        </p:txBody>
      </p:sp>
      <p:sp>
        <p:nvSpPr>
          <p:cNvPr id="4" name="Text 2"/>
          <p:cNvSpPr/>
          <p:nvPr/>
        </p:nvSpPr>
        <p:spPr>
          <a:xfrm>
            <a:off x="548640" y="1417320"/>
            <a:ext cx="4206240" cy="3200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Objectives</a:t>
            </a:r>
            <a:endParaRPr lang="en-US" sz="1500" dirty="0"/>
          </a:p>
        </p:txBody>
      </p:sp>
      <p:sp>
        <p:nvSpPr>
          <p:cNvPr id="5" name="Shape 3"/>
          <p:cNvSpPr/>
          <p:nvPr/>
        </p:nvSpPr>
        <p:spPr>
          <a:xfrm>
            <a:off x="548640" y="1828800"/>
            <a:ext cx="365760" cy="365760"/>
          </a:xfrm>
          <a:prstGeom prst="ellipse">
            <a:avLst/>
          </a:prstGeom>
          <a:solidFill>
            <a:srgbClr val="16234A"/>
          </a:solidFill>
          <a:ln/>
        </p:spPr>
      </p:sp>
      <p:sp>
        <p:nvSpPr>
          <p:cNvPr id="6" name="Text 4"/>
          <p:cNvSpPr/>
          <p:nvPr/>
        </p:nvSpPr>
        <p:spPr>
          <a:xfrm>
            <a:off x="548640" y="1828800"/>
            <a:ext cx="365760" cy="365760"/>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01</a:t>
            </a:r>
            <a:endParaRPr lang="en-US" sz="1150" dirty="0"/>
          </a:p>
        </p:txBody>
      </p:sp>
      <p:sp>
        <p:nvSpPr>
          <p:cNvPr id="7" name="Text 5"/>
          <p:cNvSpPr/>
          <p:nvPr/>
        </p:nvSpPr>
        <p:spPr>
          <a:xfrm>
            <a:off x="1051560" y="1810512"/>
            <a:ext cx="3611880" cy="594360"/>
          </a:xfrm>
          <a:prstGeom prst="rect">
            <a:avLst/>
          </a:prstGeom>
          <a:noFill/>
          <a:ln/>
        </p:spPr>
        <p:txBody>
          <a:bodyPr wrap="square" lIns="0" tIns="0" rIns="0" bIns="0"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Detect recurring subscriptions from raw bank statement data</a:t>
            </a:r>
            <a:endParaRPr lang="en-US" sz="1150" dirty="0"/>
          </a:p>
        </p:txBody>
      </p:sp>
      <p:sp>
        <p:nvSpPr>
          <p:cNvPr id="8" name="Shape 6"/>
          <p:cNvSpPr/>
          <p:nvPr/>
        </p:nvSpPr>
        <p:spPr>
          <a:xfrm>
            <a:off x="548640" y="2624328"/>
            <a:ext cx="365760" cy="365760"/>
          </a:xfrm>
          <a:prstGeom prst="ellipse">
            <a:avLst/>
          </a:prstGeom>
          <a:solidFill>
            <a:srgbClr val="16234A"/>
          </a:solidFill>
          <a:ln/>
        </p:spPr>
      </p:sp>
      <p:sp>
        <p:nvSpPr>
          <p:cNvPr id="9" name="Text 7"/>
          <p:cNvSpPr/>
          <p:nvPr/>
        </p:nvSpPr>
        <p:spPr>
          <a:xfrm>
            <a:off x="548640" y="2624328"/>
            <a:ext cx="365760" cy="365760"/>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02</a:t>
            </a:r>
            <a:endParaRPr lang="en-US" sz="1150" dirty="0"/>
          </a:p>
        </p:txBody>
      </p:sp>
      <p:sp>
        <p:nvSpPr>
          <p:cNvPr id="10" name="Text 8"/>
          <p:cNvSpPr/>
          <p:nvPr/>
        </p:nvSpPr>
        <p:spPr>
          <a:xfrm>
            <a:off x="1051560" y="2606040"/>
            <a:ext cx="3611880" cy="594360"/>
          </a:xfrm>
          <a:prstGeom prst="rect">
            <a:avLst/>
          </a:prstGeom>
          <a:noFill/>
          <a:ln/>
        </p:spPr>
        <p:txBody>
          <a:bodyPr wrap="square" lIns="0" tIns="0" rIns="0" bIns="0"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Resolve inconsistent merchant names into clean entities</a:t>
            </a:r>
            <a:endParaRPr lang="en-US" sz="1150" dirty="0"/>
          </a:p>
        </p:txBody>
      </p:sp>
      <p:sp>
        <p:nvSpPr>
          <p:cNvPr id="11" name="Shape 9"/>
          <p:cNvSpPr/>
          <p:nvPr/>
        </p:nvSpPr>
        <p:spPr>
          <a:xfrm>
            <a:off x="548640" y="3419856"/>
            <a:ext cx="365760" cy="365760"/>
          </a:xfrm>
          <a:prstGeom prst="ellipse">
            <a:avLst/>
          </a:prstGeom>
          <a:solidFill>
            <a:srgbClr val="16234A"/>
          </a:solidFill>
          <a:ln/>
        </p:spPr>
      </p:sp>
      <p:sp>
        <p:nvSpPr>
          <p:cNvPr id="12" name="Text 10"/>
          <p:cNvSpPr/>
          <p:nvPr/>
        </p:nvSpPr>
        <p:spPr>
          <a:xfrm>
            <a:off x="548640" y="3419856"/>
            <a:ext cx="365760" cy="365760"/>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03</a:t>
            </a:r>
            <a:endParaRPr lang="en-US" sz="1150" dirty="0"/>
          </a:p>
        </p:txBody>
      </p:sp>
      <p:sp>
        <p:nvSpPr>
          <p:cNvPr id="13" name="Text 11"/>
          <p:cNvSpPr/>
          <p:nvPr/>
        </p:nvSpPr>
        <p:spPr>
          <a:xfrm>
            <a:off x="1051560" y="3401568"/>
            <a:ext cx="3611880" cy="594360"/>
          </a:xfrm>
          <a:prstGeom prst="rect">
            <a:avLst/>
          </a:prstGeom>
          <a:noFill/>
          <a:ln/>
        </p:spPr>
        <p:txBody>
          <a:bodyPr wrap="square" lIns="0" tIns="0" rIns="0" bIns="0"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Track silent price increases over time</a:t>
            </a:r>
            <a:endParaRPr lang="en-US" sz="1150" dirty="0"/>
          </a:p>
        </p:txBody>
      </p:sp>
      <p:sp>
        <p:nvSpPr>
          <p:cNvPr id="14" name="Shape 12"/>
          <p:cNvSpPr/>
          <p:nvPr/>
        </p:nvSpPr>
        <p:spPr>
          <a:xfrm>
            <a:off x="548640" y="4215384"/>
            <a:ext cx="365760" cy="365760"/>
          </a:xfrm>
          <a:prstGeom prst="ellipse">
            <a:avLst/>
          </a:prstGeom>
          <a:solidFill>
            <a:srgbClr val="16234A"/>
          </a:solidFill>
          <a:ln/>
        </p:spPr>
      </p:sp>
      <p:sp>
        <p:nvSpPr>
          <p:cNvPr id="15" name="Text 13"/>
          <p:cNvSpPr/>
          <p:nvPr/>
        </p:nvSpPr>
        <p:spPr>
          <a:xfrm>
            <a:off x="548640" y="4215384"/>
            <a:ext cx="365760" cy="365760"/>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04</a:t>
            </a:r>
            <a:endParaRPr lang="en-US" sz="1150" dirty="0"/>
          </a:p>
        </p:txBody>
      </p:sp>
      <p:sp>
        <p:nvSpPr>
          <p:cNvPr id="16" name="Text 14"/>
          <p:cNvSpPr/>
          <p:nvPr/>
        </p:nvSpPr>
        <p:spPr>
          <a:xfrm>
            <a:off x="1051560" y="4197096"/>
            <a:ext cx="3611880" cy="594360"/>
          </a:xfrm>
          <a:prstGeom prst="rect">
            <a:avLst/>
          </a:prstGeom>
          <a:noFill/>
          <a:ln/>
        </p:spPr>
        <p:txBody>
          <a:bodyPr wrap="square" lIns="0" tIns="0" rIns="0" bIns="0"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Generate explainable “cancel-risk” scores</a:t>
            </a:r>
            <a:endParaRPr lang="en-US" sz="1150" dirty="0"/>
          </a:p>
        </p:txBody>
      </p:sp>
      <p:sp>
        <p:nvSpPr>
          <p:cNvPr id="17" name="Shape 15"/>
          <p:cNvSpPr/>
          <p:nvPr/>
        </p:nvSpPr>
        <p:spPr>
          <a:xfrm>
            <a:off x="548640" y="5010912"/>
            <a:ext cx="365760" cy="365760"/>
          </a:xfrm>
          <a:prstGeom prst="ellipse">
            <a:avLst/>
          </a:prstGeom>
          <a:solidFill>
            <a:srgbClr val="16234A"/>
          </a:solidFill>
          <a:ln/>
        </p:spPr>
      </p:sp>
      <p:sp>
        <p:nvSpPr>
          <p:cNvPr id="18" name="Text 16"/>
          <p:cNvSpPr/>
          <p:nvPr/>
        </p:nvSpPr>
        <p:spPr>
          <a:xfrm>
            <a:off x="548640" y="5010912"/>
            <a:ext cx="365760" cy="365760"/>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05</a:t>
            </a:r>
            <a:endParaRPr lang="en-US" sz="1150" dirty="0"/>
          </a:p>
        </p:txBody>
      </p:sp>
      <p:sp>
        <p:nvSpPr>
          <p:cNvPr id="19" name="Text 17"/>
          <p:cNvSpPr/>
          <p:nvPr/>
        </p:nvSpPr>
        <p:spPr>
          <a:xfrm>
            <a:off x="1051560" y="4992624"/>
            <a:ext cx="3611880" cy="594360"/>
          </a:xfrm>
          <a:prstGeom prst="rect">
            <a:avLst/>
          </a:prstGeom>
          <a:noFill/>
          <a:ln/>
        </p:spPr>
        <p:txBody>
          <a:bodyPr wrap="square" lIns="0" tIns="0" rIns="0" bIns="0" rtlCol="0" anchor="ctr"/>
          <a:lstStyle/>
          <a:p>
            <a:pPr indent="0" marL="0">
              <a:lnSpc>
                <a:spcPct val="110000"/>
              </a:lnSpc>
              <a:buNone/>
            </a:pPr>
            <a:r>
              <a:rPr lang="en-US" sz="1150" dirty="0">
                <a:solidFill>
                  <a:srgbClr val="16234A"/>
                </a:solidFill>
                <a:latin typeface="Calibri" pitchFamily="34" charset="0"/>
                <a:ea typeface="Calibri" pitchFamily="34" charset="-122"/>
                <a:cs typeface="Calibri" pitchFamily="34" charset="-120"/>
              </a:rPr>
              <a:t>Simulate savings from hypothetical cancellations</a:t>
            </a:r>
            <a:endParaRPr lang="en-US" sz="1150" dirty="0"/>
          </a:p>
        </p:txBody>
      </p:sp>
      <p:sp>
        <p:nvSpPr>
          <p:cNvPr id="20" name="Text 18"/>
          <p:cNvSpPr/>
          <p:nvPr/>
        </p:nvSpPr>
        <p:spPr>
          <a:xfrm>
            <a:off x="4892040" y="1417320"/>
            <a:ext cx="6766560" cy="320040"/>
          </a:xfrm>
          <a:prstGeom prst="rect">
            <a:avLst/>
          </a:prstGeom>
          <a:noFill/>
          <a:ln/>
        </p:spPr>
        <p:txBody>
          <a:bodyPr wrap="square" lIns="0" tIns="0" rIns="0" bIns="0" rtlCol="0" anchor="ctr"/>
          <a:lstStyle/>
          <a:p>
            <a:pPr indent="0" marL="0">
              <a:buNone/>
            </a:pPr>
            <a:r>
              <a:rPr lang="en-US" sz="1500" b="1" dirty="0">
                <a:solidFill>
                  <a:srgbClr val="F5A623"/>
                </a:solidFill>
                <a:latin typeface="Cambria" pitchFamily="34" charset="0"/>
                <a:ea typeface="Cambria" pitchFamily="34" charset="-122"/>
                <a:cs typeface="Cambria" pitchFamily="34" charset="-120"/>
              </a:rPr>
              <a:t>System Architecture</a:t>
            </a:r>
            <a:endParaRPr lang="en-US" sz="1500" dirty="0"/>
          </a:p>
        </p:txBody>
      </p:sp>
      <p:sp>
        <p:nvSpPr>
          <p:cNvPr id="21" name="Shape 19"/>
          <p:cNvSpPr/>
          <p:nvPr/>
        </p:nvSpPr>
        <p:spPr>
          <a:xfrm>
            <a:off x="4892040" y="1874520"/>
            <a:ext cx="2331720" cy="731520"/>
          </a:xfrm>
          <a:prstGeom prst="roundRect">
            <a:avLst>
              <a:gd name="adj" fmla="val 10000"/>
            </a:avLst>
          </a:prstGeom>
          <a:solidFill>
            <a:srgbClr val="16234A"/>
          </a:solidFill>
          <a:ln/>
        </p:spPr>
      </p:sp>
      <p:sp>
        <p:nvSpPr>
          <p:cNvPr id="22" name="Text 20"/>
          <p:cNvSpPr/>
          <p:nvPr/>
        </p:nvSpPr>
        <p:spPr>
          <a:xfrm>
            <a:off x="4892040" y="1874520"/>
            <a:ext cx="2331720" cy="7315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(CSV Upload)</a:t>
            </a:r>
            <a:endParaRPr lang="en-US" sz="1050" dirty="0"/>
          </a:p>
        </p:txBody>
      </p:sp>
      <p:sp>
        <p:nvSpPr>
          <p:cNvPr id="23" name="Shape 21"/>
          <p:cNvSpPr/>
          <p:nvPr/>
        </p:nvSpPr>
        <p:spPr>
          <a:xfrm>
            <a:off x="7589520" y="1874520"/>
            <a:ext cx="2331720" cy="731520"/>
          </a:xfrm>
          <a:prstGeom prst="roundRect">
            <a:avLst>
              <a:gd name="adj" fmla="val 10000"/>
            </a:avLst>
          </a:prstGeom>
          <a:solidFill>
            <a:srgbClr val="2EC4B6"/>
          </a:solidFill>
          <a:ln/>
        </p:spPr>
      </p:sp>
      <p:sp>
        <p:nvSpPr>
          <p:cNvPr id="24" name="Text 22"/>
          <p:cNvSpPr/>
          <p:nvPr/>
        </p:nvSpPr>
        <p:spPr>
          <a:xfrm>
            <a:off x="7589520" y="1874520"/>
            <a:ext cx="2331720" cy="7315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Django REST API</a:t>
            </a:r>
            <a:endParaRPr lang="en-US" sz="1050" dirty="0"/>
          </a:p>
        </p:txBody>
      </p:sp>
      <p:sp>
        <p:nvSpPr>
          <p:cNvPr id="25" name="Shape 23"/>
          <p:cNvSpPr/>
          <p:nvPr/>
        </p:nvSpPr>
        <p:spPr>
          <a:xfrm>
            <a:off x="7589520" y="2971800"/>
            <a:ext cx="2331720" cy="731520"/>
          </a:xfrm>
          <a:prstGeom prst="roundRect">
            <a:avLst>
              <a:gd name="adj" fmla="val 10000"/>
            </a:avLst>
          </a:prstGeom>
          <a:solidFill>
            <a:srgbClr val="F5A623"/>
          </a:solidFill>
          <a:ln/>
        </p:spPr>
      </p:sp>
      <p:sp>
        <p:nvSpPr>
          <p:cNvPr id="26" name="Text 24"/>
          <p:cNvSpPr/>
          <p:nvPr/>
        </p:nvSpPr>
        <p:spPr>
          <a:xfrm>
            <a:off x="7589520" y="2971800"/>
            <a:ext cx="2331720" cy="7315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ML Pipeline</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(Clean → Cluster →</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Detect → Score)</a:t>
            </a:r>
            <a:endParaRPr lang="en-US" sz="1050" dirty="0"/>
          </a:p>
        </p:txBody>
      </p:sp>
      <p:sp>
        <p:nvSpPr>
          <p:cNvPr id="27" name="Shape 25"/>
          <p:cNvSpPr/>
          <p:nvPr/>
        </p:nvSpPr>
        <p:spPr>
          <a:xfrm>
            <a:off x="4892040" y="2971800"/>
            <a:ext cx="2331720" cy="731520"/>
          </a:xfrm>
          <a:prstGeom prst="roundRect">
            <a:avLst>
              <a:gd name="adj" fmla="val 10000"/>
            </a:avLst>
          </a:prstGeom>
          <a:solidFill>
            <a:srgbClr val="2EC4B6"/>
          </a:solidFill>
          <a:ln/>
        </p:spPr>
      </p:sp>
      <p:sp>
        <p:nvSpPr>
          <p:cNvPr id="28" name="Text 26"/>
          <p:cNvSpPr/>
          <p:nvPr/>
        </p:nvSpPr>
        <p:spPr>
          <a:xfrm>
            <a:off x="4892040" y="2971800"/>
            <a:ext cx="2331720" cy="7315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MySQL Database</a:t>
            </a:r>
            <a:endParaRPr lang="en-US" sz="1050" dirty="0"/>
          </a:p>
        </p:txBody>
      </p:sp>
      <p:sp>
        <p:nvSpPr>
          <p:cNvPr id="29" name="Shape 27"/>
          <p:cNvSpPr/>
          <p:nvPr/>
        </p:nvSpPr>
        <p:spPr>
          <a:xfrm>
            <a:off x="6263640" y="4069080"/>
            <a:ext cx="2331720" cy="731520"/>
          </a:xfrm>
          <a:prstGeom prst="roundRect">
            <a:avLst>
              <a:gd name="adj" fmla="val 10000"/>
            </a:avLst>
          </a:prstGeom>
          <a:solidFill>
            <a:srgbClr val="16234A"/>
          </a:solidFill>
          <a:ln/>
        </p:spPr>
      </p:sp>
      <p:sp>
        <p:nvSpPr>
          <p:cNvPr id="30" name="Text 28"/>
          <p:cNvSpPr/>
          <p:nvPr/>
        </p:nvSpPr>
        <p:spPr>
          <a:xfrm>
            <a:off x="6263640" y="4069080"/>
            <a:ext cx="2331720" cy="73152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(Insights &amp; Simulator)</a:t>
            </a:r>
            <a:endParaRPr lang="en-US" sz="1050" dirty="0"/>
          </a:p>
        </p:txBody>
      </p:sp>
      <p:sp>
        <p:nvSpPr>
          <p:cNvPr id="31" name="Shape 29"/>
          <p:cNvSpPr/>
          <p:nvPr/>
        </p:nvSpPr>
        <p:spPr>
          <a:xfrm>
            <a:off x="7223760" y="2240280"/>
            <a:ext cx="365760" cy="0"/>
          </a:xfrm>
          <a:prstGeom prst="line">
            <a:avLst/>
          </a:prstGeom>
          <a:noFill/>
          <a:ln w="19050">
            <a:solidFill>
              <a:srgbClr val="9AA3B2"/>
            </a:solidFill>
            <a:prstDash val="solid"/>
            <a:tailEnd type="triangle"/>
          </a:ln>
        </p:spPr>
      </p:sp>
      <p:sp>
        <p:nvSpPr>
          <p:cNvPr id="32" name="Shape 30"/>
          <p:cNvSpPr/>
          <p:nvPr/>
        </p:nvSpPr>
        <p:spPr>
          <a:xfrm>
            <a:off x="8755380" y="2606040"/>
            <a:ext cx="0" cy="365760"/>
          </a:xfrm>
          <a:prstGeom prst="line">
            <a:avLst/>
          </a:prstGeom>
          <a:noFill/>
          <a:ln w="19050">
            <a:solidFill>
              <a:srgbClr val="9AA3B2"/>
            </a:solidFill>
            <a:prstDash val="solid"/>
            <a:tailEnd type="triangle"/>
          </a:ln>
        </p:spPr>
      </p:sp>
      <p:sp>
        <p:nvSpPr>
          <p:cNvPr id="33" name="Shape 31"/>
          <p:cNvSpPr/>
          <p:nvPr/>
        </p:nvSpPr>
        <p:spPr>
          <a:xfrm>
            <a:off x="7589520" y="3337560"/>
            <a:ext cx="-365760" cy="0"/>
          </a:xfrm>
          <a:prstGeom prst="line">
            <a:avLst/>
          </a:prstGeom>
          <a:noFill/>
          <a:ln w="19050">
            <a:solidFill>
              <a:srgbClr val="9AA3B2"/>
            </a:solidFill>
            <a:prstDash val="solid"/>
            <a:tailEnd type="triangle"/>
          </a:ln>
        </p:spPr>
      </p:sp>
      <p:sp>
        <p:nvSpPr>
          <p:cNvPr id="34" name="Shape 32"/>
          <p:cNvSpPr/>
          <p:nvPr/>
        </p:nvSpPr>
        <p:spPr>
          <a:xfrm>
            <a:off x="6057900" y="3703320"/>
            <a:ext cx="1165860" cy="365760"/>
          </a:xfrm>
          <a:prstGeom prst="line">
            <a:avLst/>
          </a:prstGeom>
          <a:noFill/>
          <a:ln w="19050">
            <a:solidFill>
              <a:srgbClr val="9AA3B2"/>
            </a:solidFill>
            <a:prstDash val="solid"/>
            <a:tailEnd type="triangle"/>
          </a:ln>
        </p:spPr>
      </p:sp>
      <p:sp>
        <p:nvSpPr>
          <p:cNvPr id="35" name="Shape 33"/>
          <p:cNvSpPr/>
          <p:nvPr/>
        </p:nvSpPr>
        <p:spPr>
          <a:xfrm>
            <a:off x="7840980" y="3703320"/>
            <a:ext cx="-388620" cy="365760"/>
          </a:xfrm>
          <a:prstGeom prst="line">
            <a:avLst/>
          </a:prstGeom>
          <a:noFill/>
          <a:ln w="19050">
            <a:solidFill>
              <a:srgbClr val="9AA3B2"/>
            </a:solidFill>
            <a:prstDash val="solid"/>
            <a:tailEnd type="triangle"/>
          </a:ln>
        </p:spPr>
      </p:sp>
      <p:sp>
        <p:nvSpPr>
          <p:cNvPr id="36" name="Shape 34"/>
          <p:cNvSpPr/>
          <p:nvPr/>
        </p:nvSpPr>
        <p:spPr>
          <a:xfrm>
            <a:off x="548640" y="5623560"/>
            <a:ext cx="11064240" cy="640080"/>
          </a:xfrm>
          <a:prstGeom prst="rect">
            <a:avLst/>
          </a:prstGeom>
          <a:solidFill>
            <a:srgbClr val="16234A"/>
          </a:solidFill>
          <a:ln/>
        </p:spPr>
      </p:sp>
      <p:sp>
        <p:nvSpPr>
          <p:cNvPr id="37" name="Text 35"/>
          <p:cNvSpPr/>
          <p:nvPr/>
        </p:nvSpPr>
        <p:spPr>
          <a:xfrm>
            <a:off x="822960" y="5623560"/>
            <a:ext cx="10515600" cy="64008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Flow in one line:  </a:t>
            </a:r>
            <a:pPr indent="0" marL="0">
              <a:buNone/>
            </a:pPr>
            <a:r>
              <a:rPr lang="en-US" sz="1200" dirty="0">
                <a:solidFill>
                  <a:srgbClr val="FFFFFF"/>
                </a:solidFill>
                <a:latin typeface="Calibri" pitchFamily="34" charset="0"/>
                <a:ea typeface="Calibri" pitchFamily="34" charset="-122"/>
                <a:cs typeface="Calibri" pitchFamily="34" charset="-120"/>
              </a:rPr>
              <a:t>CSV upload → API → cleaning &amp; clustering → recurrence &amp; risk scoring → stored in MySQL → visualized on the dashboard.</a:t>
            </a:r>
            <a:endParaRPr lang="en-US" sz="1200" dirty="0"/>
          </a:p>
        </p:txBody>
      </p:sp>
      <p:sp>
        <p:nvSpPr>
          <p:cNvPr id="38" name="Shape 36"/>
          <p:cNvSpPr/>
          <p:nvPr/>
        </p:nvSpPr>
        <p:spPr>
          <a:xfrm>
            <a:off x="11475720" y="6263640"/>
            <a:ext cx="502920" cy="502920"/>
          </a:xfrm>
          <a:prstGeom prst="ellipse">
            <a:avLst/>
          </a:prstGeom>
          <a:solidFill>
            <a:srgbClr val="16234A"/>
          </a:solidFill>
          <a:ln/>
        </p:spPr>
      </p:sp>
      <p:sp>
        <p:nvSpPr>
          <p:cNvPr id="39" name="Text 37"/>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TOOLS POWERING EACH LAYER</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48640" y="1645920"/>
            <a:ext cx="3520440" cy="1920240"/>
          </a:xfrm>
          <a:prstGeom prst="rect">
            <a:avLst/>
          </a:prstGeom>
          <a:solidFill>
            <a:srgbClr val="F4F6FA"/>
          </a:solidFill>
          <a:ln/>
        </p:spPr>
      </p:sp>
      <p:sp>
        <p:nvSpPr>
          <p:cNvPr id="5" name="Shape 3"/>
          <p:cNvSpPr/>
          <p:nvPr/>
        </p:nvSpPr>
        <p:spPr>
          <a:xfrm>
            <a:off x="548640" y="1645920"/>
            <a:ext cx="3520440" cy="457200"/>
          </a:xfrm>
          <a:prstGeom prst="rect">
            <a:avLst/>
          </a:prstGeom>
          <a:solidFill>
            <a:srgbClr val="2EC4B6"/>
          </a:solidFill>
          <a:ln/>
        </p:spPr>
      </p:sp>
      <p:sp>
        <p:nvSpPr>
          <p:cNvPr id="6" name="Text 4"/>
          <p:cNvSpPr/>
          <p:nvPr/>
        </p:nvSpPr>
        <p:spPr>
          <a:xfrm>
            <a:off x="777240" y="164592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Frontend</a:t>
            </a:r>
            <a:endParaRPr lang="en-US" sz="1400" dirty="0"/>
          </a:p>
        </p:txBody>
      </p:sp>
      <p:sp>
        <p:nvSpPr>
          <p:cNvPr id="7" name="Text 5"/>
          <p:cNvSpPr/>
          <p:nvPr/>
        </p:nvSpPr>
        <p:spPr>
          <a:xfrm>
            <a:off x="777240" y="228600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HTML5, CSS3, JavaScript, Chart.js</a:t>
            </a:r>
            <a:endParaRPr lang="en-US" sz="1200" dirty="0"/>
          </a:p>
        </p:txBody>
      </p:sp>
      <p:sp>
        <p:nvSpPr>
          <p:cNvPr id="8" name="Shape 6"/>
          <p:cNvSpPr/>
          <p:nvPr/>
        </p:nvSpPr>
        <p:spPr>
          <a:xfrm>
            <a:off x="4343400" y="1645920"/>
            <a:ext cx="3520440" cy="1920240"/>
          </a:xfrm>
          <a:prstGeom prst="rect">
            <a:avLst/>
          </a:prstGeom>
          <a:solidFill>
            <a:srgbClr val="F4F6FA"/>
          </a:solidFill>
          <a:ln/>
        </p:spPr>
      </p:sp>
      <p:sp>
        <p:nvSpPr>
          <p:cNvPr id="9" name="Shape 7"/>
          <p:cNvSpPr/>
          <p:nvPr/>
        </p:nvSpPr>
        <p:spPr>
          <a:xfrm>
            <a:off x="4343400" y="1645920"/>
            <a:ext cx="3520440" cy="457200"/>
          </a:xfrm>
          <a:prstGeom prst="rect">
            <a:avLst/>
          </a:prstGeom>
          <a:solidFill>
            <a:srgbClr val="16234A"/>
          </a:solidFill>
          <a:ln/>
        </p:spPr>
      </p:sp>
      <p:sp>
        <p:nvSpPr>
          <p:cNvPr id="10" name="Text 8"/>
          <p:cNvSpPr/>
          <p:nvPr/>
        </p:nvSpPr>
        <p:spPr>
          <a:xfrm>
            <a:off x="4572000" y="164592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Backend</a:t>
            </a:r>
            <a:endParaRPr lang="en-US" sz="1400" dirty="0"/>
          </a:p>
        </p:txBody>
      </p:sp>
      <p:sp>
        <p:nvSpPr>
          <p:cNvPr id="11" name="Text 9"/>
          <p:cNvSpPr/>
          <p:nvPr/>
        </p:nvSpPr>
        <p:spPr>
          <a:xfrm>
            <a:off x="4572000" y="228600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Python, Django, Django REST Framework</a:t>
            </a:r>
            <a:endParaRPr lang="en-US" sz="1200" dirty="0"/>
          </a:p>
        </p:txBody>
      </p:sp>
      <p:sp>
        <p:nvSpPr>
          <p:cNvPr id="12" name="Shape 10"/>
          <p:cNvSpPr/>
          <p:nvPr/>
        </p:nvSpPr>
        <p:spPr>
          <a:xfrm>
            <a:off x="8138160" y="1645920"/>
            <a:ext cx="3520440" cy="1920240"/>
          </a:xfrm>
          <a:prstGeom prst="rect">
            <a:avLst/>
          </a:prstGeom>
          <a:solidFill>
            <a:srgbClr val="F4F6FA"/>
          </a:solidFill>
          <a:ln/>
        </p:spPr>
      </p:sp>
      <p:sp>
        <p:nvSpPr>
          <p:cNvPr id="13" name="Shape 11"/>
          <p:cNvSpPr/>
          <p:nvPr/>
        </p:nvSpPr>
        <p:spPr>
          <a:xfrm>
            <a:off x="8138160" y="1645920"/>
            <a:ext cx="3520440" cy="457200"/>
          </a:xfrm>
          <a:prstGeom prst="rect">
            <a:avLst/>
          </a:prstGeom>
          <a:solidFill>
            <a:srgbClr val="F5A623"/>
          </a:solidFill>
          <a:ln/>
        </p:spPr>
      </p:sp>
      <p:sp>
        <p:nvSpPr>
          <p:cNvPr id="14" name="Text 12"/>
          <p:cNvSpPr/>
          <p:nvPr/>
        </p:nvSpPr>
        <p:spPr>
          <a:xfrm>
            <a:off x="8366760" y="164592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Database</a:t>
            </a:r>
            <a:endParaRPr lang="en-US" sz="1400" dirty="0"/>
          </a:p>
        </p:txBody>
      </p:sp>
      <p:sp>
        <p:nvSpPr>
          <p:cNvPr id="15" name="Text 13"/>
          <p:cNvSpPr/>
          <p:nvPr/>
        </p:nvSpPr>
        <p:spPr>
          <a:xfrm>
            <a:off x="8366760" y="228600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MySQL (MySQL Workbench)</a:t>
            </a:r>
            <a:endParaRPr lang="en-US" sz="1200" dirty="0"/>
          </a:p>
        </p:txBody>
      </p:sp>
      <p:sp>
        <p:nvSpPr>
          <p:cNvPr id="16" name="Shape 14"/>
          <p:cNvSpPr/>
          <p:nvPr/>
        </p:nvSpPr>
        <p:spPr>
          <a:xfrm>
            <a:off x="548640" y="3840480"/>
            <a:ext cx="3520440" cy="1920240"/>
          </a:xfrm>
          <a:prstGeom prst="rect">
            <a:avLst/>
          </a:prstGeom>
          <a:solidFill>
            <a:srgbClr val="F4F6FA"/>
          </a:solidFill>
          <a:ln/>
        </p:spPr>
      </p:sp>
      <p:sp>
        <p:nvSpPr>
          <p:cNvPr id="17" name="Shape 15"/>
          <p:cNvSpPr/>
          <p:nvPr/>
        </p:nvSpPr>
        <p:spPr>
          <a:xfrm>
            <a:off x="548640" y="3840480"/>
            <a:ext cx="3520440" cy="457200"/>
          </a:xfrm>
          <a:prstGeom prst="rect">
            <a:avLst/>
          </a:prstGeom>
          <a:solidFill>
            <a:srgbClr val="2EC4B6"/>
          </a:solidFill>
          <a:ln/>
        </p:spPr>
      </p:sp>
      <p:sp>
        <p:nvSpPr>
          <p:cNvPr id="18" name="Text 16"/>
          <p:cNvSpPr/>
          <p:nvPr/>
        </p:nvSpPr>
        <p:spPr>
          <a:xfrm>
            <a:off x="777240" y="384048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ML / NLP Pipeline</a:t>
            </a:r>
            <a:endParaRPr lang="en-US" sz="1400" dirty="0"/>
          </a:p>
        </p:txBody>
      </p:sp>
      <p:sp>
        <p:nvSpPr>
          <p:cNvPr id="19" name="Text 17"/>
          <p:cNvSpPr/>
          <p:nvPr/>
        </p:nvSpPr>
        <p:spPr>
          <a:xfrm>
            <a:off x="777240" y="448056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Pandas, RapidFuzz, Scikit-learn</a:t>
            </a:r>
            <a:endParaRPr lang="en-US" sz="1200" dirty="0"/>
          </a:p>
        </p:txBody>
      </p:sp>
      <p:sp>
        <p:nvSpPr>
          <p:cNvPr id="20" name="Shape 18"/>
          <p:cNvSpPr/>
          <p:nvPr/>
        </p:nvSpPr>
        <p:spPr>
          <a:xfrm>
            <a:off x="4343400" y="3840480"/>
            <a:ext cx="3520440" cy="1920240"/>
          </a:xfrm>
          <a:prstGeom prst="rect">
            <a:avLst/>
          </a:prstGeom>
          <a:solidFill>
            <a:srgbClr val="F4F6FA"/>
          </a:solidFill>
          <a:ln/>
        </p:spPr>
      </p:sp>
      <p:sp>
        <p:nvSpPr>
          <p:cNvPr id="21" name="Shape 19"/>
          <p:cNvSpPr/>
          <p:nvPr/>
        </p:nvSpPr>
        <p:spPr>
          <a:xfrm>
            <a:off x="4343400" y="3840480"/>
            <a:ext cx="3520440" cy="457200"/>
          </a:xfrm>
          <a:prstGeom prst="rect">
            <a:avLst/>
          </a:prstGeom>
          <a:solidFill>
            <a:srgbClr val="16234A"/>
          </a:solidFill>
          <a:ln/>
        </p:spPr>
      </p:sp>
      <p:sp>
        <p:nvSpPr>
          <p:cNvPr id="22" name="Text 20"/>
          <p:cNvSpPr/>
          <p:nvPr/>
        </p:nvSpPr>
        <p:spPr>
          <a:xfrm>
            <a:off x="4572000" y="384048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Data Prototyping</a:t>
            </a:r>
            <a:endParaRPr lang="en-US" sz="1400" dirty="0"/>
          </a:p>
        </p:txBody>
      </p:sp>
      <p:sp>
        <p:nvSpPr>
          <p:cNvPr id="23" name="Text 21"/>
          <p:cNvSpPr/>
          <p:nvPr/>
        </p:nvSpPr>
        <p:spPr>
          <a:xfrm>
            <a:off x="4572000" y="448056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Jupyter Notebook</a:t>
            </a:r>
            <a:endParaRPr lang="en-US" sz="1200" dirty="0"/>
          </a:p>
        </p:txBody>
      </p:sp>
      <p:sp>
        <p:nvSpPr>
          <p:cNvPr id="24" name="Shape 22"/>
          <p:cNvSpPr/>
          <p:nvPr/>
        </p:nvSpPr>
        <p:spPr>
          <a:xfrm>
            <a:off x="8138160" y="3840480"/>
            <a:ext cx="3520440" cy="1920240"/>
          </a:xfrm>
          <a:prstGeom prst="rect">
            <a:avLst/>
          </a:prstGeom>
          <a:solidFill>
            <a:srgbClr val="F4F6FA"/>
          </a:solidFill>
          <a:ln/>
        </p:spPr>
      </p:sp>
      <p:sp>
        <p:nvSpPr>
          <p:cNvPr id="25" name="Shape 23"/>
          <p:cNvSpPr/>
          <p:nvPr/>
        </p:nvSpPr>
        <p:spPr>
          <a:xfrm>
            <a:off x="8138160" y="3840480"/>
            <a:ext cx="3520440" cy="457200"/>
          </a:xfrm>
          <a:prstGeom prst="rect">
            <a:avLst/>
          </a:prstGeom>
          <a:solidFill>
            <a:srgbClr val="F5A623"/>
          </a:solidFill>
          <a:ln/>
        </p:spPr>
      </p:sp>
      <p:sp>
        <p:nvSpPr>
          <p:cNvPr id="26" name="Text 24"/>
          <p:cNvSpPr/>
          <p:nvPr/>
        </p:nvSpPr>
        <p:spPr>
          <a:xfrm>
            <a:off x="8366760" y="3840480"/>
            <a:ext cx="3063240" cy="45720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Dev Environment</a:t>
            </a:r>
            <a:endParaRPr lang="en-US" sz="1400" dirty="0"/>
          </a:p>
        </p:txBody>
      </p:sp>
      <p:sp>
        <p:nvSpPr>
          <p:cNvPr id="27" name="Text 25"/>
          <p:cNvSpPr/>
          <p:nvPr/>
        </p:nvSpPr>
        <p:spPr>
          <a:xfrm>
            <a:off x="8366760" y="4480560"/>
            <a:ext cx="3063240" cy="1097280"/>
          </a:xfrm>
          <a:prstGeom prst="rect">
            <a:avLst/>
          </a:prstGeom>
          <a:noFill/>
          <a:ln/>
        </p:spPr>
        <p:txBody>
          <a:bodyPr wrap="square" lIns="0" tIns="0" rIns="0" bIns="0" rtlCol="0" anchor="ctr"/>
          <a:lstStyle/>
          <a:p>
            <a:pPr indent="0" marL="0">
              <a:lnSpc>
                <a:spcPct val="120000"/>
              </a:lnSpc>
              <a:buNone/>
            </a:pPr>
            <a:r>
              <a:rPr lang="en-US" sz="1200" dirty="0">
                <a:solidFill>
                  <a:srgbClr val="5A6472"/>
                </a:solidFill>
                <a:latin typeface="Calibri" pitchFamily="34" charset="0"/>
                <a:ea typeface="Calibri" pitchFamily="34" charset="-122"/>
                <a:cs typeface="Calibri" pitchFamily="34" charset="-120"/>
              </a:rPr>
              <a:t>VS Code, Git &amp; GitHub</a:t>
            </a:r>
            <a:endParaRPr lang="en-US" sz="1200" dirty="0"/>
          </a:p>
        </p:txBody>
      </p:sp>
      <p:sp>
        <p:nvSpPr>
          <p:cNvPr id="28" name="Shape 26"/>
          <p:cNvSpPr/>
          <p:nvPr/>
        </p:nvSpPr>
        <p:spPr>
          <a:xfrm>
            <a:off x="11475720" y="6263640"/>
            <a:ext cx="502920" cy="502920"/>
          </a:xfrm>
          <a:prstGeom prst="ellipse">
            <a:avLst/>
          </a:prstGeom>
          <a:solidFill>
            <a:srgbClr val="16234A"/>
          </a:solidFill>
          <a:ln/>
        </p:spPr>
      </p:sp>
      <p:sp>
        <p:nvSpPr>
          <p:cNvPr id="29" name="Text 27"/>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THE END-TO-END PIPELINE</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Proposed Methodology</a:t>
            </a:r>
            <a:endParaRPr lang="en-US" sz="3000" dirty="0"/>
          </a:p>
        </p:txBody>
      </p:sp>
      <p:sp>
        <p:nvSpPr>
          <p:cNvPr id="4" name="Shape 2"/>
          <p:cNvSpPr/>
          <p:nvPr/>
        </p:nvSpPr>
        <p:spPr>
          <a:xfrm>
            <a:off x="548640" y="1920240"/>
            <a:ext cx="2011680" cy="2834640"/>
          </a:xfrm>
          <a:prstGeom prst="rect">
            <a:avLst/>
          </a:prstGeom>
          <a:solidFill>
            <a:srgbClr val="F4F6FA"/>
          </a:solidFill>
          <a:ln/>
        </p:spPr>
      </p:sp>
      <p:sp>
        <p:nvSpPr>
          <p:cNvPr id="5" name="Shape 3"/>
          <p:cNvSpPr/>
          <p:nvPr/>
        </p:nvSpPr>
        <p:spPr>
          <a:xfrm>
            <a:off x="1344168" y="2148840"/>
            <a:ext cx="420624" cy="420624"/>
          </a:xfrm>
          <a:prstGeom prst="ellipse">
            <a:avLst/>
          </a:prstGeom>
          <a:solidFill>
            <a:srgbClr val="16234A"/>
          </a:solidFill>
          <a:ln/>
        </p:spPr>
      </p:sp>
      <p:sp>
        <p:nvSpPr>
          <p:cNvPr id="6" name="Text 4"/>
          <p:cNvSpPr/>
          <p:nvPr/>
        </p:nvSpPr>
        <p:spPr>
          <a:xfrm>
            <a:off x="1344168" y="2148840"/>
            <a:ext cx="420624" cy="420624"/>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01</a:t>
            </a:r>
            <a:endParaRPr lang="en-US" sz="1150" dirty="0"/>
          </a:p>
        </p:txBody>
      </p:sp>
      <p:sp>
        <p:nvSpPr>
          <p:cNvPr id="7" name="Text 5"/>
          <p:cNvSpPr/>
          <p:nvPr/>
        </p:nvSpPr>
        <p:spPr>
          <a:xfrm>
            <a:off x="640080" y="2788920"/>
            <a:ext cx="1828800" cy="594360"/>
          </a:xfrm>
          <a:prstGeom prst="rect">
            <a:avLst/>
          </a:prstGeom>
          <a:noFill/>
          <a:ln/>
        </p:spPr>
        <p:txBody>
          <a:bodyPr wrap="square" lIns="0" tIns="0" rIns="0" bIns="0" rtlCol="0" anchor="ctr"/>
          <a:lstStyle/>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Data Ingestion</a:t>
            </a:r>
            <a:endParaRPr lang="en-US" sz="1250" dirty="0"/>
          </a:p>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&amp; Cleaning</a:t>
            </a:r>
            <a:endParaRPr lang="en-US" sz="1250" dirty="0"/>
          </a:p>
        </p:txBody>
      </p:sp>
      <p:sp>
        <p:nvSpPr>
          <p:cNvPr id="8" name="Text 6"/>
          <p:cNvSpPr/>
          <p:nvPr/>
        </p:nvSpPr>
        <p:spPr>
          <a:xfrm>
            <a:off x="685800" y="3429000"/>
            <a:ext cx="1737360" cy="1188720"/>
          </a:xfrm>
          <a:prstGeom prst="rect">
            <a:avLst/>
          </a:prstGeom>
          <a:noFill/>
          <a:ln/>
        </p:spPr>
        <p:txBody>
          <a:bodyPr wrap="square" lIns="0" tIns="0" rIns="0" bIns="0" rtlCol="0" anchor="ctr"/>
          <a:lstStyle/>
          <a:p>
            <a:pPr algn="ctr" indent="0" marL="0">
              <a:lnSpc>
                <a:spcPct val="115000"/>
              </a:lnSpc>
              <a:buNone/>
            </a:pPr>
            <a:r>
              <a:rPr lang="en-US" sz="950" dirty="0">
                <a:solidFill>
                  <a:srgbClr val="5A6472"/>
                </a:solidFill>
                <a:latin typeface="Calibri" pitchFamily="34" charset="0"/>
                <a:ea typeface="Calibri" pitchFamily="34" charset="-122"/>
                <a:cs typeface="Calibri" pitchFamily="34" charset="-120"/>
              </a:rPr>
              <a:t>Parse uploaded CSV; normalize merchant text (lowercase, strip IDs/codes)</a:t>
            </a:r>
            <a:endParaRPr lang="en-US" sz="950" dirty="0"/>
          </a:p>
        </p:txBody>
      </p:sp>
      <p:sp>
        <p:nvSpPr>
          <p:cNvPr id="9" name="Shape 7"/>
          <p:cNvSpPr/>
          <p:nvPr/>
        </p:nvSpPr>
        <p:spPr>
          <a:xfrm>
            <a:off x="2560320" y="3337560"/>
            <a:ext cx="256032" cy="0"/>
          </a:xfrm>
          <a:prstGeom prst="line">
            <a:avLst/>
          </a:prstGeom>
          <a:noFill/>
          <a:ln w="19050">
            <a:solidFill>
              <a:srgbClr val="9AA3B2"/>
            </a:solidFill>
            <a:prstDash val="solid"/>
            <a:tailEnd type="triangle"/>
          </a:ln>
        </p:spPr>
      </p:sp>
      <p:sp>
        <p:nvSpPr>
          <p:cNvPr id="10" name="Shape 8"/>
          <p:cNvSpPr/>
          <p:nvPr/>
        </p:nvSpPr>
        <p:spPr>
          <a:xfrm>
            <a:off x="2816352" y="1920240"/>
            <a:ext cx="2011680" cy="2834640"/>
          </a:xfrm>
          <a:prstGeom prst="rect">
            <a:avLst/>
          </a:prstGeom>
          <a:solidFill>
            <a:srgbClr val="F4F6FA"/>
          </a:solidFill>
          <a:ln/>
        </p:spPr>
      </p:sp>
      <p:sp>
        <p:nvSpPr>
          <p:cNvPr id="11" name="Shape 9"/>
          <p:cNvSpPr/>
          <p:nvPr/>
        </p:nvSpPr>
        <p:spPr>
          <a:xfrm>
            <a:off x="3611880" y="2148840"/>
            <a:ext cx="420624" cy="420624"/>
          </a:xfrm>
          <a:prstGeom prst="ellipse">
            <a:avLst/>
          </a:prstGeom>
          <a:solidFill>
            <a:srgbClr val="16234A"/>
          </a:solidFill>
          <a:ln/>
        </p:spPr>
      </p:sp>
      <p:sp>
        <p:nvSpPr>
          <p:cNvPr id="12" name="Text 10"/>
          <p:cNvSpPr/>
          <p:nvPr/>
        </p:nvSpPr>
        <p:spPr>
          <a:xfrm>
            <a:off x="3611880" y="2148840"/>
            <a:ext cx="420624" cy="420624"/>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02</a:t>
            </a:r>
            <a:endParaRPr lang="en-US" sz="1150" dirty="0"/>
          </a:p>
        </p:txBody>
      </p:sp>
      <p:sp>
        <p:nvSpPr>
          <p:cNvPr id="13" name="Text 11"/>
          <p:cNvSpPr/>
          <p:nvPr/>
        </p:nvSpPr>
        <p:spPr>
          <a:xfrm>
            <a:off x="2907792" y="2788920"/>
            <a:ext cx="1828800" cy="594360"/>
          </a:xfrm>
          <a:prstGeom prst="rect">
            <a:avLst/>
          </a:prstGeom>
          <a:noFill/>
          <a:ln/>
        </p:spPr>
        <p:txBody>
          <a:bodyPr wrap="square" lIns="0" tIns="0" rIns="0" bIns="0" rtlCol="0" anchor="ctr"/>
          <a:lstStyle/>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Merchant Entity</a:t>
            </a:r>
            <a:endParaRPr lang="en-US" sz="1250" dirty="0"/>
          </a:p>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Resolution</a:t>
            </a:r>
            <a:endParaRPr lang="en-US" sz="1250" dirty="0"/>
          </a:p>
        </p:txBody>
      </p:sp>
      <p:sp>
        <p:nvSpPr>
          <p:cNvPr id="14" name="Text 12"/>
          <p:cNvSpPr/>
          <p:nvPr/>
        </p:nvSpPr>
        <p:spPr>
          <a:xfrm>
            <a:off x="2953512" y="3429000"/>
            <a:ext cx="1737360" cy="1188720"/>
          </a:xfrm>
          <a:prstGeom prst="rect">
            <a:avLst/>
          </a:prstGeom>
          <a:noFill/>
          <a:ln/>
        </p:spPr>
        <p:txBody>
          <a:bodyPr wrap="square" lIns="0" tIns="0" rIns="0" bIns="0" rtlCol="0" anchor="ctr"/>
          <a:lstStyle/>
          <a:p>
            <a:pPr algn="ctr" indent="0" marL="0">
              <a:lnSpc>
                <a:spcPct val="115000"/>
              </a:lnSpc>
              <a:buNone/>
            </a:pPr>
            <a:r>
              <a:rPr lang="en-US" sz="950" dirty="0">
                <a:solidFill>
                  <a:srgbClr val="5A6472"/>
                </a:solidFill>
                <a:latin typeface="Calibri" pitchFamily="34" charset="0"/>
                <a:ea typeface="Calibri" pitchFamily="34" charset="-122"/>
                <a:cs typeface="Calibri" pitchFamily="34" charset="-120"/>
              </a:rPr>
              <a:t>Fuzzy-match + cluster inconsistent merchant name variants into one entity</a:t>
            </a:r>
            <a:endParaRPr lang="en-US" sz="950" dirty="0"/>
          </a:p>
        </p:txBody>
      </p:sp>
      <p:sp>
        <p:nvSpPr>
          <p:cNvPr id="15" name="Shape 13"/>
          <p:cNvSpPr/>
          <p:nvPr/>
        </p:nvSpPr>
        <p:spPr>
          <a:xfrm>
            <a:off x="4828032" y="3337560"/>
            <a:ext cx="256032" cy="0"/>
          </a:xfrm>
          <a:prstGeom prst="line">
            <a:avLst/>
          </a:prstGeom>
          <a:noFill/>
          <a:ln w="19050">
            <a:solidFill>
              <a:srgbClr val="9AA3B2"/>
            </a:solidFill>
            <a:prstDash val="solid"/>
            <a:tailEnd type="triangle"/>
          </a:ln>
        </p:spPr>
      </p:sp>
      <p:sp>
        <p:nvSpPr>
          <p:cNvPr id="16" name="Shape 14"/>
          <p:cNvSpPr/>
          <p:nvPr/>
        </p:nvSpPr>
        <p:spPr>
          <a:xfrm>
            <a:off x="5084064" y="1920240"/>
            <a:ext cx="2011680" cy="2834640"/>
          </a:xfrm>
          <a:prstGeom prst="rect">
            <a:avLst/>
          </a:prstGeom>
          <a:solidFill>
            <a:srgbClr val="F4F6FA"/>
          </a:solidFill>
          <a:ln/>
        </p:spPr>
      </p:sp>
      <p:sp>
        <p:nvSpPr>
          <p:cNvPr id="17" name="Shape 15"/>
          <p:cNvSpPr/>
          <p:nvPr/>
        </p:nvSpPr>
        <p:spPr>
          <a:xfrm>
            <a:off x="5879592" y="2148840"/>
            <a:ext cx="420624" cy="420624"/>
          </a:xfrm>
          <a:prstGeom prst="ellipse">
            <a:avLst/>
          </a:prstGeom>
          <a:solidFill>
            <a:srgbClr val="16234A"/>
          </a:solidFill>
          <a:ln/>
        </p:spPr>
      </p:sp>
      <p:sp>
        <p:nvSpPr>
          <p:cNvPr id="18" name="Text 16"/>
          <p:cNvSpPr/>
          <p:nvPr/>
        </p:nvSpPr>
        <p:spPr>
          <a:xfrm>
            <a:off x="5879592" y="2148840"/>
            <a:ext cx="420624" cy="420624"/>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03</a:t>
            </a:r>
            <a:endParaRPr lang="en-US" sz="1150" dirty="0"/>
          </a:p>
        </p:txBody>
      </p:sp>
      <p:sp>
        <p:nvSpPr>
          <p:cNvPr id="19" name="Text 17"/>
          <p:cNvSpPr/>
          <p:nvPr/>
        </p:nvSpPr>
        <p:spPr>
          <a:xfrm>
            <a:off x="5175504" y="2788920"/>
            <a:ext cx="1828800" cy="594360"/>
          </a:xfrm>
          <a:prstGeom prst="rect">
            <a:avLst/>
          </a:prstGeom>
          <a:noFill/>
          <a:ln/>
        </p:spPr>
        <p:txBody>
          <a:bodyPr wrap="square" lIns="0" tIns="0" rIns="0" bIns="0" rtlCol="0" anchor="ctr"/>
          <a:lstStyle/>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Recurrence</a:t>
            </a:r>
            <a:endParaRPr lang="en-US" sz="1250" dirty="0"/>
          </a:p>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Detection</a:t>
            </a:r>
            <a:endParaRPr lang="en-US" sz="1250" dirty="0"/>
          </a:p>
        </p:txBody>
      </p:sp>
      <p:sp>
        <p:nvSpPr>
          <p:cNvPr id="20" name="Text 18"/>
          <p:cNvSpPr/>
          <p:nvPr/>
        </p:nvSpPr>
        <p:spPr>
          <a:xfrm>
            <a:off x="5221224" y="3429000"/>
            <a:ext cx="1737360" cy="1188720"/>
          </a:xfrm>
          <a:prstGeom prst="rect">
            <a:avLst/>
          </a:prstGeom>
          <a:noFill/>
          <a:ln/>
        </p:spPr>
        <p:txBody>
          <a:bodyPr wrap="square" lIns="0" tIns="0" rIns="0" bIns="0" rtlCol="0" anchor="ctr"/>
          <a:lstStyle/>
          <a:p>
            <a:pPr algn="ctr" indent="0" marL="0">
              <a:lnSpc>
                <a:spcPct val="115000"/>
              </a:lnSpc>
              <a:buNone/>
            </a:pPr>
            <a:r>
              <a:rPr lang="en-US" sz="950" dirty="0">
                <a:solidFill>
                  <a:srgbClr val="5A6472"/>
                </a:solidFill>
                <a:latin typeface="Calibri" pitchFamily="34" charset="0"/>
                <a:ea typeface="Calibri" pitchFamily="34" charset="-122"/>
                <a:cs typeface="Calibri" pitchFamily="34" charset="-120"/>
              </a:rPr>
              <a:t>Statistical periodicity check on transaction gaps + amount stability</a:t>
            </a:r>
            <a:endParaRPr lang="en-US" sz="950" dirty="0"/>
          </a:p>
        </p:txBody>
      </p:sp>
      <p:sp>
        <p:nvSpPr>
          <p:cNvPr id="21" name="Shape 19"/>
          <p:cNvSpPr/>
          <p:nvPr/>
        </p:nvSpPr>
        <p:spPr>
          <a:xfrm>
            <a:off x="7095744" y="3337560"/>
            <a:ext cx="256032" cy="0"/>
          </a:xfrm>
          <a:prstGeom prst="line">
            <a:avLst/>
          </a:prstGeom>
          <a:noFill/>
          <a:ln w="19050">
            <a:solidFill>
              <a:srgbClr val="9AA3B2"/>
            </a:solidFill>
            <a:prstDash val="solid"/>
            <a:tailEnd type="triangle"/>
          </a:ln>
        </p:spPr>
      </p:sp>
      <p:sp>
        <p:nvSpPr>
          <p:cNvPr id="22" name="Shape 20"/>
          <p:cNvSpPr/>
          <p:nvPr/>
        </p:nvSpPr>
        <p:spPr>
          <a:xfrm>
            <a:off x="7351776" y="1920240"/>
            <a:ext cx="2011680" cy="2834640"/>
          </a:xfrm>
          <a:prstGeom prst="rect">
            <a:avLst/>
          </a:prstGeom>
          <a:solidFill>
            <a:srgbClr val="F4F6FA"/>
          </a:solidFill>
          <a:ln/>
        </p:spPr>
      </p:sp>
      <p:sp>
        <p:nvSpPr>
          <p:cNvPr id="23" name="Shape 21"/>
          <p:cNvSpPr/>
          <p:nvPr/>
        </p:nvSpPr>
        <p:spPr>
          <a:xfrm>
            <a:off x="8147304" y="2148840"/>
            <a:ext cx="420624" cy="420624"/>
          </a:xfrm>
          <a:prstGeom prst="ellipse">
            <a:avLst/>
          </a:prstGeom>
          <a:solidFill>
            <a:srgbClr val="16234A"/>
          </a:solidFill>
          <a:ln/>
        </p:spPr>
      </p:sp>
      <p:sp>
        <p:nvSpPr>
          <p:cNvPr id="24" name="Text 22"/>
          <p:cNvSpPr/>
          <p:nvPr/>
        </p:nvSpPr>
        <p:spPr>
          <a:xfrm>
            <a:off x="8147304" y="2148840"/>
            <a:ext cx="420624" cy="420624"/>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04</a:t>
            </a:r>
            <a:endParaRPr lang="en-US" sz="1150" dirty="0"/>
          </a:p>
        </p:txBody>
      </p:sp>
      <p:sp>
        <p:nvSpPr>
          <p:cNvPr id="25" name="Text 23"/>
          <p:cNvSpPr/>
          <p:nvPr/>
        </p:nvSpPr>
        <p:spPr>
          <a:xfrm>
            <a:off x="7443216" y="2788920"/>
            <a:ext cx="1828800" cy="594360"/>
          </a:xfrm>
          <a:prstGeom prst="rect">
            <a:avLst/>
          </a:prstGeom>
          <a:noFill/>
          <a:ln/>
        </p:spPr>
        <p:txBody>
          <a:bodyPr wrap="square" lIns="0" tIns="0" rIns="0" bIns="0" rtlCol="0" anchor="ctr"/>
          <a:lstStyle/>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Explainable</a:t>
            </a:r>
            <a:endParaRPr lang="en-US" sz="1250" dirty="0"/>
          </a:p>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Risk Scoring</a:t>
            </a:r>
            <a:endParaRPr lang="en-US" sz="1250" dirty="0"/>
          </a:p>
        </p:txBody>
      </p:sp>
      <p:sp>
        <p:nvSpPr>
          <p:cNvPr id="26" name="Text 24"/>
          <p:cNvSpPr/>
          <p:nvPr/>
        </p:nvSpPr>
        <p:spPr>
          <a:xfrm>
            <a:off x="7488936" y="3429000"/>
            <a:ext cx="1737360" cy="1188720"/>
          </a:xfrm>
          <a:prstGeom prst="rect">
            <a:avLst/>
          </a:prstGeom>
          <a:noFill/>
          <a:ln/>
        </p:spPr>
        <p:txBody>
          <a:bodyPr wrap="square" lIns="0" tIns="0" rIns="0" bIns="0" rtlCol="0" anchor="ctr"/>
          <a:lstStyle/>
          <a:p>
            <a:pPr algn="ctr" indent="0" marL="0">
              <a:lnSpc>
                <a:spcPct val="115000"/>
              </a:lnSpc>
              <a:buNone/>
            </a:pPr>
            <a:r>
              <a:rPr lang="en-US" sz="950" dirty="0">
                <a:solidFill>
                  <a:srgbClr val="5A6472"/>
                </a:solidFill>
                <a:latin typeface="Calibri" pitchFamily="34" charset="0"/>
                <a:ea typeface="Calibri" pitchFamily="34" charset="-122"/>
                <a:cs typeface="Calibri" pitchFamily="34" charset="-120"/>
              </a:rPr>
              <a:t>Confidence-scored “cancel candidate” flag with human-readable reasoning</a:t>
            </a:r>
            <a:endParaRPr lang="en-US" sz="950" dirty="0"/>
          </a:p>
        </p:txBody>
      </p:sp>
      <p:sp>
        <p:nvSpPr>
          <p:cNvPr id="27" name="Shape 25"/>
          <p:cNvSpPr/>
          <p:nvPr/>
        </p:nvSpPr>
        <p:spPr>
          <a:xfrm>
            <a:off x="9363456" y="3337560"/>
            <a:ext cx="256032" cy="0"/>
          </a:xfrm>
          <a:prstGeom prst="line">
            <a:avLst/>
          </a:prstGeom>
          <a:noFill/>
          <a:ln w="19050">
            <a:solidFill>
              <a:srgbClr val="9AA3B2"/>
            </a:solidFill>
            <a:prstDash val="solid"/>
            <a:tailEnd type="triangle"/>
          </a:ln>
        </p:spPr>
      </p:sp>
      <p:sp>
        <p:nvSpPr>
          <p:cNvPr id="28" name="Shape 26"/>
          <p:cNvSpPr/>
          <p:nvPr/>
        </p:nvSpPr>
        <p:spPr>
          <a:xfrm>
            <a:off x="9619488" y="1920240"/>
            <a:ext cx="2011680" cy="2834640"/>
          </a:xfrm>
          <a:prstGeom prst="rect">
            <a:avLst/>
          </a:prstGeom>
          <a:solidFill>
            <a:srgbClr val="F4F6FA"/>
          </a:solidFill>
          <a:ln/>
        </p:spPr>
      </p:sp>
      <p:sp>
        <p:nvSpPr>
          <p:cNvPr id="29" name="Shape 27"/>
          <p:cNvSpPr/>
          <p:nvPr/>
        </p:nvSpPr>
        <p:spPr>
          <a:xfrm>
            <a:off x="10415016" y="2148840"/>
            <a:ext cx="420624" cy="420624"/>
          </a:xfrm>
          <a:prstGeom prst="ellipse">
            <a:avLst/>
          </a:prstGeom>
          <a:solidFill>
            <a:srgbClr val="16234A"/>
          </a:solidFill>
          <a:ln/>
        </p:spPr>
      </p:sp>
      <p:sp>
        <p:nvSpPr>
          <p:cNvPr id="30" name="Text 28"/>
          <p:cNvSpPr/>
          <p:nvPr/>
        </p:nvSpPr>
        <p:spPr>
          <a:xfrm>
            <a:off x="10415016" y="2148840"/>
            <a:ext cx="420624" cy="420624"/>
          </a:xfrm>
          <a:prstGeom prst="rect">
            <a:avLst/>
          </a:prstGeom>
          <a:noFill/>
          <a:ln/>
        </p:spPr>
        <p:txBody>
          <a:bodyPr wrap="square" lIns="0" tIns="0" rIns="0" bIns="0" rtlCol="0" anchor="ctr"/>
          <a:lstStyle/>
          <a:p>
            <a:pPr algn="ctr" indent="0" marL="0">
              <a:buNone/>
            </a:pPr>
            <a:r>
              <a:rPr lang="en-US" sz="1150" b="1" dirty="0">
                <a:solidFill>
                  <a:srgbClr val="F5A623"/>
                </a:solidFill>
                <a:latin typeface="Cambria" pitchFamily="34" charset="0"/>
                <a:ea typeface="Cambria" pitchFamily="34" charset="-122"/>
                <a:cs typeface="Cambria" pitchFamily="34" charset="-120"/>
              </a:rPr>
              <a:t>05</a:t>
            </a:r>
            <a:endParaRPr lang="en-US" sz="1150" dirty="0"/>
          </a:p>
        </p:txBody>
      </p:sp>
      <p:sp>
        <p:nvSpPr>
          <p:cNvPr id="31" name="Text 29"/>
          <p:cNvSpPr/>
          <p:nvPr/>
        </p:nvSpPr>
        <p:spPr>
          <a:xfrm>
            <a:off x="9710928" y="2788920"/>
            <a:ext cx="1828800" cy="594360"/>
          </a:xfrm>
          <a:prstGeom prst="rect">
            <a:avLst/>
          </a:prstGeom>
          <a:noFill/>
          <a:ln/>
        </p:spPr>
        <p:txBody>
          <a:bodyPr wrap="square" lIns="0" tIns="0" rIns="0" bIns="0" rtlCol="0" anchor="ctr"/>
          <a:lstStyle/>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Dashboard &amp;</a:t>
            </a:r>
            <a:endParaRPr lang="en-US" sz="1250" dirty="0"/>
          </a:p>
          <a:p>
            <a:pPr algn="ctr" indent="0" marL="0">
              <a:lnSpc>
                <a:spcPct val="105000"/>
              </a:lnSpc>
              <a:buNone/>
            </a:pPr>
            <a:r>
              <a:rPr lang="en-US" sz="1250" b="1" dirty="0">
                <a:solidFill>
                  <a:srgbClr val="16234A"/>
                </a:solidFill>
                <a:latin typeface="Cambria" pitchFamily="34" charset="0"/>
                <a:ea typeface="Cambria" pitchFamily="34" charset="-122"/>
                <a:cs typeface="Cambria" pitchFamily="34" charset="-120"/>
              </a:rPr>
              <a:t>Feedback Loop</a:t>
            </a:r>
            <a:endParaRPr lang="en-US" sz="1250" dirty="0"/>
          </a:p>
        </p:txBody>
      </p:sp>
      <p:sp>
        <p:nvSpPr>
          <p:cNvPr id="32" name="Text 30"/>
          <p:cNvSpPr/>
          <p:nvPr/>
        </p:nvSpPr>
        <p:spPr>
          <a:xfrm>
            <a:off x="9756648" y="3429000"/>
            <a:ext cx="1737360" cy="1188720"/>
          </a:xfrm>
          <a:prstGeom prst="rect">
            <a:avLst/>
          </a:prstGeom>
          <a:noFill/>
          <a:ln/>
        </p:spPr>
        <p:txBody>
          <a:bodyPr wrap="square" lIns="0" tIns="0" rIns="0" bIns="0" rtlCol="0" anchor="ctr"/>
          <a:lstStyle/>
          <a:p>
            <a:pPr algn="ctr" indent="0" marL="0">
              <a:lnSpc>
                <a:spcPct val="115000"/>
              </a:lnSpc>
              <a:buNone/>
            </a:pPr>
            <a:r>
              <a:rPr lang="en-US" sz="950" dirty="0">
                <a:solidFill>
                  <a:srgbClr val="5A6472"/>
                </a:solidFill>
                <a:latin typeface="Calibri" pitchFamily="34" charset="0"/>
                <a:ea typeface="Calibri" pitchFamily="34" charset="-122"/>
                <a:cs typeface="Calibri" pitchFamily="34" charset="-120"/>
              </a:rPr>
              <a:t>User confirms/corrects flags; feedback retrains the risk model over time</a:t>
            </a:r>
            <a:endParaRPr lang="en-US" sz="950" dirty="0"/>
          </a:p>
        </p:txBody>
      </p:sp>
      <p:sp>
        <p:nvSpPr>
          <p:cNvPr id="33" name="Shape 31"/>
          <p:cNvSpPr/>
          <p:nvPr/>
        </p:nvSpPr>
        <p:spPr>
          <a:xfrm>
            <a:off x="11475720" y="6263640"/>
            <a:ext cx="502920" cy="502920"/>
          </a:xfrm>
          <a:prstGeom prst="ellipse">
            <a:avLst/>
          </a:prstGeom>
          <a:solidFill>
            <a:srgbClr val="16234A"/>
          </a:solidFill>
          <a:ln/>
        </p:spPr>
      </p:sp>
      <p:sp>
        <p:nvSpPr>
          <p:cNvPr id="34" name="Text 32"/>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150" kern="0" dirty="0">
                <a:solidFill>
                  <a:srgbClr val="2EC4B6"/>
                </a:solidFill>
                <a:latin typeface="Calibri" pitchFamily="34" charset="0"/>
                <a:ea typeface="Calibri" pitchFamily="34" charset="-122"/>
                <a:cs typeface="Calibri" pitchFamily="34" charset="-120"/>
              </a:rPr>
              <a:t>SUBSCRIPTION LEAK DETECTOR</a:t>
            </a:r>
            <a:pPr indent="0" marL="0">
              <a:buNone/>
            </a:pPr>
            <a:r>
              <a:rPr lang="en-US" sz="1100" dirty="0">
                <a:solidFill>
                  <a:srgbClr val="AEB6C2"/>
                </a:solidFill>
                <a:latin typeface="Calibri" pitchFamily="34" charset="0"/>
                <a:ea typeface="Calibri" pitchFamily="34" charset="-122"/>
                <a:cs typeface="Calibri" pitchFamily="34" charset="-120"/>
              </a:rPr>
              <a:t>   ·   </a:t>
            </a:r>
            <a:pPr indent="0" marL="0">
              <a:buNone/>
            </a:pPr>
            <a:r>
              <a:rPr lang="en-US" sz="1100" spc="150" kern="0" dirty="0">
                <a:solidFill>
                  <a:srgbClr val="8A93A3"/>
                </a:solidFill>
                <a:latin typeface="Calibri" pitchFamily="34" charset="0"/>
                <a:ea typeface="Calibri" pitchFamily="34" charset="-122"/>
                <a:cs typeface="Calibri" pitchFamily="34" charset="-120"/>
              </a:rPr>
              <a:t>HOW WE'LL MEASURE SUCCESS</a:t>
            </a:r>
            <a:endParaRPr lang="en-US" sz="11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000" b="1" dirty="0">
                <a:solidFill>
                  <a:srgbClr val="16234A"/>
                </a:solidFill>
                <a:latin typeface="Cambria" pitchFamily="34" charset="0"/>
                <a:ea typeface="Cambria" pitchFamily="34" charset="-122"/>
                <a:cs typeface="Cambria" pitchFamily="34" charset="-120"/>
              </a:rPr>
              <a:t>Evaluation Plan</a:t>
            </a:r>
            <a:endParaRPr lang="en-US" sz="3000" dirty="0"/>
          </a:p>
        </p:txBody>
      </p:sp>
      <p:sp>
        <p:nvSpPr>
          <p:cNvPr id="4" name="Text 2"/>
          <p:cNvSpPr/>
          <p:nvPr/>
        </p:nvSpPr>
        <p:spPr>
          <a:xfrm>
            <a:off x="1234440" y="1554480"/>
            <a:ext cx="306324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Metric</a:t>
            </a:r>
            <a:endParaRPr lang="en-US" sz="1100" dirty="0"/>
          </a:p>
        </p:txBody>
      </p:sp>
      <p:sp>
        <p:nvSpPr>
          <p:cNvPr id="5" name="Text 3"/>
          <p:cNvSpPr/>
          <p:nvPr/>
        </p:nvSpPr>
        <p:spPr>
          <a:xfrm>
            <a:off x="4480560" y="1554480"/>
            <a:ext cx="411480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Evaluation Method</a:t>
            </a:r>
            <a:endParaRPr lang="en-US" sz="1100" dirty="0"/>
          </a:p>
        </p:txBody>
      </p:sp>
      <p:sp>
        <p:nvSpPr>
          <p:cNvPr id="6" name="Text 4"/>
          <p:cNvSpPr/>
          <p:nvPr/>
        </p:nvSpPr>
        <p:spPr>
          <a:xfrm>
            <a:off x="8778240" y="1554480"/>
            <a:ext cx="2834640" cy="320040"/>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Target</a:t>
            </a:r>
            <a:endParaRPr lang="en-US" sz="1100" dirty="0"/>
          </a:p>
        </p:txBody>
      </p:sp>
      <p:sp>
        <p:nvSpPr>
          <p:cNvPr id="7" name="Shape 5"/>
          <p:cNvSpPr/>
          <p:nvPr/>
        </p:nvSpPr>
        <p:spPr>
          <a:xfrm>
            <a:off x="548640" y="1920240"/>
            <a:ext cx="11064240" cy="0"/>
          </a:xfrm>
          <a:prstGeom prst="line">
            <a:avLst/>
          </a:prstGeom>
          <a:noFill/>
          <a:ln w="19050">
            <a:solidFill>
              <a:srgbClr val="2EC4B6"/>
            </a:solidFill>
            <a:prstDash val="solid"/>
          </a:ln>
        </p:spPr>
      </p:sp>
      <p:sp>
        <p:nvSpPr>
          <p:cNvPr id="8" name="Shape 6"/>
          <p:cNvSpPr/>
          <p:nvPr/>
        </p:nvSpPr>
        <p:spPr>
          <a:xfrm>
            <a:off x="548640" y="2103120"/>
            <a:ext cx="11064240" cy="841248"/>
          </a:xfrm>
          <a:prstGeom prst="rect">
            <a:avLst/>
          </a:prstGeom>
          <a:solidFill>
            <a:srgbClr val="FFFFFF"/>
          </a:solidFill>
          <a:ln/>
        </p:spPr>
      </p:sp>
      <p:sp>
        <p:nvSpPr>
          <p:cNvPr id="9" name="Shape 7"/>
          <p:cNvSpPr/>
          <p:nvPr/>
        </p:nvSpPr>
        <p:spPr>
          <a:xfrm>
            <a:off x="822960" y="2340864"/>
            <a:ext cx="365760" cy="365760"/>
          </a:xfrm>
          <a:prstGeom prst="ellipse">
            <a:avLst/>
          </a:prstGeom>
          <a:solidFill>
            <a:srgbClr val="F5A623"/>
          </a:solidFill>
          <a:ln/>
        </p:spPr>
      </p:sp>
      <p:sp>
        <p:nvSpPr>
          <p:cNvPr id="10" name="Text 8"/>
          <p:cNvSpPr/>
          <p:nvPr/>
        </p:nvSpPr>
        <p:spPr>
          <a:xfrm>
            <a:off x="822960" y="234086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01</a:t>
            </a:r>
            <a:endParaRPr lang="en-US" sz="1150" dirty="0"/>
          </a:p>
        </p:txBody>
      </p:sp>
      <p:sp>
        <p:nvSpPr>
          <p:cNvPr id="11" name="Text 9"/>
          <p:cNvSpPr/>
          <p:nvPr/>
        </p:nvSpPr>
        <p:spPr>
          <a:xfrm>
            <a:off x="1234440" y="2103120"/>
            <a:ext cx="3063240" cy="841248"/>
          </a:xfrm>
          <a:prstGeom prst="rect">
            <a:avLst/>
          </a:prstGeom>
          <a:noFill/>
          <a:ln/>
        </p:spPr>
        <p:txBody>
          <a:bodyPr wrap="square" lIns="635" tIns="635" rIns="635" bIns="635"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Merchant clustering accuracy</a:t>
            </a:r>
            <a:endParaRPr lang="en-US" sz="1200" dirty="0"/>
          </a:p>
        </p:txBody>
      </p:sp>
      <p:sp>
        <p:nvSpPr>
          <p:cNvPr id="12" name="Text 10"/>
          <p:cNvSpPr/>
          <p:nvPr/>
        </p:nvSpPr>
        <p:spPr>
          <a:xfrm>
            <a:off x="4480560" y="2103120"/>
            <a:ext cx="4114800" cy="841248"/>
          </a:xfrm>
          <a:prstGeom prst="rect">
            <a:avLst/>
          </a:prstGeom>
          <a:noFill/>
          <a:ln/>
        </p:spPr>
        <p:txBody>
          <a:bodyPr wrap="square" lIns="635" tIns="635" rIns="635" bIns="635" rtlCol="0" anchor="ctr"/>
          <a:lstStyle/>
          <a:p>
            <a:pPr indent="0" marL="0">
              <a:lnSpc>
                <a:spcPct val="110000"/>
              </a:lnSpc>
              <a:buNone/>
            </a:pPr>
            <a:r>
              <a:rPr lang="en-US" sz="1100" dirty="0">
                <a:solidFill>
                  <a:srgbClr val="5A6472"/>
                </a:solidFill>
                <a:latin typeface="Calibri" pitchFamily="34" charset="0"/>
                <a:ea typeface="Calibri" pitchFamily="34" charset="-122"/>
                <a:cs typeface="Calibri" pitchFamily="34" charset="-120"/>
              </a:rPr>
              <a:t>Manually labeled validation set of transactions</a:t>
            </a:r>
            <a:endParaRPr lang="en-US" sz="1100" dirty="0"/>
          </a:p>
        </p:txBody>
      </p:sp>
      <p:sp>
        <p:nvSpPr>
          <p:cNvPr id="13" name="Text 11"/>
          <p:cNvSpPr/>
          <p:nvPr/>
        </p:nvSpPr>
        <p:spPr>
          <a:xfrm>
            <a:off x="8778240" y="2103120"/>
            <a:ext cx="2834640" cy="841248"/>
          </a:xfrm>
          <a:prstGeom prst="rect">
            <a:avLst/>
          </a:prstGeom>
          <a:noFill/>
          <a:ln/>
        </p:spPr>
        <p:txBody>
          <a:bodyPr wrap="square" lIns="635" tIns="635" rIns="635" bIns="635" rtlCol="0" anchor="ctr"/>
          <a:lstStyle/>
          <a:p>
            <a:pPr indent="0" marL="0">
              <a:lnSpc>
                <a:spcPct val="110000"/>
              </a:lnSpc>
              <a:buNone/>
            </a:pPr>
            <a:r>
              <a:rPr lang="en-US" sz="1100" b="1" dirty="0">
                <a:solidFill>
                  <a:srgbClr val="E24A3B"/>
                </a:solidFill>
                <a:latin typeface="Calibri" pitchFamily="34" charset="0"/>
                <a:ea typeface="Calibri" pitchFamily="34" charset="-122"/>
                <a:cs typeface="Calibri" pitchFamily="34" charset="-120"/>
              </a:rPr>
              <a:t>&gt; 90% correct grouping</a:t>
            </a:r>
            <a:endParaRPr lang="en-US" sz="1100" dirty="0"/>
          </a:p>
        </p:txBody>
      </p:sp>
      <p:sp>
        <p:nvSpPr>
          <p:cNvPr id="14" name="Shape 12"/>
          <p:cNvSpPr/>
          <p:nvPr/>
        </p:nvSpPr>
        <p:spPr>
          <a:xfrm>
            <a:off x="548640" y="2990088"/>
            <a:ext cx="11064240" cy="841248"/>
          </a:xfrm>
          <a:prstGeom prst="rect">
            <a:avLst/>
          </a:prstGeom>
          <a:solidFill>
            <a:srgbClr val="F4F6FA"/>
          </a:solidFill>
          <a:ln/>
        </p:spPr>
      </p:sp>
      <p:sp>
        <p:nvSpPr>
          <p:cNvPr id="15" name="Shape 13"/>
          <p:cNvSpPr/>
          <p:nvPr/>
        </p:nvSpPr>
        <p:spPr>
          <a:xfrm>
            <a:off x="822960" y="3227832"/>
            <a:ext cx="365760" cy="365760"/>
          </a:xfrm>
          <a:prstGeom prst="ellipse">
            <a:avLst/>
          </a:prstGeom>
          <a:solidFill>
            <a:srgbClr val="2EC4B6"/>
          </a:solidFill>
          <a:ln/>
        </p:spPr>
      </p:sp>
      <p:sp>
        <p:nvSpPr>
          <p:cNvPr id="16" name="Text 14"/>
          <p:cNvSpPr/>
          <p:nvPr/>
        </p:nvSpPr>
        <p:spPr>
          <a:xfrm>
            <a:off x="822960" y="322783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02</a:t>
            </a:r>
            <a:endParaRPr lang="en-US" sz="1150" dirty="0"/>
          </a:p>
        </p:txBody>
      </p:sp>
      <p:sp>
        <p:nvSpPr>
          <p:cNvPr id="17" name="Text 15"/>
          <p:cNvSpPr/>
          <p:nvPr/>
        </p:nvSpPr>
        <p:spPr>
          <a:xfrm>
            <a:off x="1234440" y="2990088"/>
            <a:ext cx="3063240" cy="841248"/>
          </a:xfrm>
          <a:prstGeom prst="rect">
            <a:avLst/>
          </a:prstGeom>
          <a:noFill/>
          <a:ln/>
        </p:spPr>
        <p:txBody>
          <a:bodyPr wrap="square" lIns="635" tIns="635" rIns="635" bIns="635"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Recurrence detection precision / recall</a:t>
            </a:r>
            <a:endParaRPr lang="en-US" sz="1200" dirty="0"/>
          </a:p>
        </p:txBody>
      </p:sp>
      <p:sp>
        <p:nvSpPr>
          <p:cNvPr id="18" name="Text 16"/>
          <p:cNvSpPr/>
          <p:nvPr/>
        </p:nvSpPr>
        <p:spPr>
          <a:xfrm>
            <a:off x="4480560" y="2990088"/>
            <a:ext cx="4114800" cy="841248"/>
          </a:xfrm>
          <a:prstGeom prst="rect">
            <a:avLst/>
          </a:prstGeom>
          <a:noFill/>
          <a:ln/>
        </p:spPr>
        <p:txBody>
          <a:bodyPr wrap="square" lIns="635" tIns="635" rIns="635" bIns="635" rtlCol="0" anchor="ctr"/>
          <a:lstStyle/>
          <a:p>
            <a:pPr indent="0" marL="0">
              <a:lnSpc>
                <a:spcPct val="110000"/>
              </a:lnSpc>
              <a:buNone/>
            </a:pPr>
            <a:r>
              <a:rPr lang="en-US" sz="1100" dirty="0">
                <a:solidFill>
                  <a:srgbClr val="5A6472"/>
                </a:solidFill>
                <a:latin typeface="Calibri" pitchFamily="34" charset="0"/>
                <a:ea typeface="Calibri" pitchFamily="34" charset="-122"/>
                <a:cs typeface="Calibri" pitchFamily="34" charset="-120"/>
              </a:rPr>
              <a:t>Synthetic dataset with known ground-truth subscriptions</a:t>
            </a:r>
            <a:endParaRPr lang="en-US" sz="1100" dirty="0"/>
          </a:p>
        </p:txBody>
      </p:sp>
      <p:sp>
        <p:nvSpPr>
          <p:cNvPr id="19" name="Text 17"/>
          <p:cNvSpPr/>
          <p:nvPr/>
        </p:nvSpPr>
        <p:spPr>
          <a:xfrm>
            <a:off x="8778240" y="2990088"/>
            <a:ext cx="2834640" cy="841248"/>
          </a:xfrm>
          <a:prstGeom prst="rect">
            <a:avLst/>
          </a:prstGeom>
          <a:noFill/>
          <a:ln/>
        </p:spPr>
        <p:txBody>
          <a:bodyPr wrap="square" lIns="635" tIns="635" rIns="635" bIns="635" rtlCol="0" anchor="ctr"/>
          <a:lstStyle/>
          <a:p>
            <a:pPr indent="0" marL="0">
              <a:lnSpc>
                <a:spcPct val="110000"/>
              </a:lnSpc>
              <a:buNone/>
            </a:pPr>
            <a:r>
              <a:rPr lang="en-US" sz="1100" b="1" dirty="0">
                <a:solidFill>
                  <a:srgbClr val="E24A3B"/>
                </a:solidFill>
                <a:latin typeface="Calibri" pitchFamily="34" charset="0"/>
                <a:ea typeface="Calibri" pitchFamily="34" charset="-122"/>
                <a:cs typeface="Calibri" pitchFamily="34" charset="-120"/>
              </a:rPr>
              <a:t>Precision &gt; 85%, Recall &gt; 80%</a:t>
            </a:r>
            <a:endParaRPr lang="en-US" sz="1100" dirty="0"/>
          </a:p>
        </p:txBody>
      </p:sp>
      <p:sp>
        <p:nvSpPr>
          <p:cNvPr id="20" name="Shape 18"/>
          <p:cNvSpPr/>
          <p:nvPr/>
        </p:nvSpPr>
        <p:spPr>
          <a:xfrm>
            <a:off x="548640" y="3877056"/>
            <a:ext cx="11064240" cy="841248"/>
          </a:xfrm>
          <a:prstGeom prst="rect">
            <a:avLst/>
          </a:prstGeom>
          <a:solidFill>
            <a:srgbClr val="FFFFFF"/>
          </a:solidFill>
          <a:ln/>
        </p:spPr>
      </p:sp>
      <p:sp>
        <p:nvSpPr>
          <p:cNvPr id="21" name="Shape 19"/>
          <p:cNvSpPr/>
          <p:nvPr/>
        </p:nvSpPr>
        <p:spPr>
          <a:xfrm>
            <a:off x="822960" y="4114800"/>
            <a:ext cx="365760" cy="365760"/>
          </a:xfrm>
          <a:prstGeom prst="ellipse">
            <a:avLst/>
          </a:prstGeom>
          <a:solidFill>
            <a:srgbClr val="F5A623"/>
          </a:solidFill>
          <a:ln/>
        </p:spPr>
      </p:sp>
      <p:sp>
        <p:nvSpPr>
          <p:cNvPr id="22" name="Text 20"/>
          <p:cNvSpPr/>
          <p:nvPr/>
        </p:nvSpPr>
        <p:spPr>
          <a:xfrm>
            <a:off x="822960" y="411480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03</a:t>
            </a:r>
            <a:endParaRPr lang="en-US" sz="1150" dirty="0"/>
          </a:p>
        </p:txBody>
      </p:sp>
      <p:sp>
        <p:nvSpPr>
          <p:cNvPr id="23" name="Text 21"/>
          <p:cNvSpPr/>
          <p:nvPr/>
        </p:nvSpPr>
        <p:spPr>
          <a:xfrm>
            <a:off x="1234440" y="3877056"/>
            <a:ext cx="3063240" cy="841248"/>
          </a:xfrm>
          <a:prstGeom prst="rect">
            <a:avLst/>
          </a:prstGeom>
          <a:noFill/>
          <a:ln/>
        </p:spPr>
        <p:txBody>
          <a:bodyPr wrap="square" lIns="635" tIns="635" rIns="635" bIns="635"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Risk-score usefulness</a:t>
            </a:r>
            <a:endParaRPr lang="en-US" sz="1200" dirty="0"/>
          </a:p>
        </p:txBody>
      </p:sp>
      <p:sp>
        <p:nvSpPr>
          <p:cNvPr id="24" name="Text 22"/>
          <p:cNvSpPr/>
          <p:nvPr/>
        </p:nvSpPr>
        <p:spPr>
          <a:xfrm>
            <a:off x="4480560" y="3877056"/>
            <a:ext cx="4114800" cy="841248"/>
          </a:xfrm>
          <a:prstGeom prst="rect">
            <a:avLst/>
          </a:prstGeom>
          <a:noFill/>
          <a:ln/>
        </p:spPr>
        <p:txBody>
          <a:bodyPr wrap="square" lIns="635" tIns="635" rIns="635" bIns="635" rtlCol="0" anchor="ctr"/>
          <a:lstStyle/>
          <a:p>
            <a:pPr indent="0" marL="0">
              <a:lnSpc>
                <a:spcPct val="110000"/>
              </a:lnSpc>
              <a:buNone/>
            </a:pPr>
            <a:r>
              <a:rPr lang="en-US" sz="1100" dirty="0">
                <a:solidFill>
                  <a:srgbClr val="5A6472"/>
                </a:solidFill>
                <a:latin typeface="Calibri" pitchFamily="34" charset="0"/>
                <a:ea typeface="Calibri" pitchFamily="34" charset="-122"/>
                <a:cs typeface="Calibri" pitchFamily="34" charset="-120"/>
              </a:rPr>
              <a:t>User feedback loop (confirm / reject flagged subscriptions)</a:t>
            </a:r>
            <a:endParaRPr lang="en-US" sz="1100" dirty="0"/>
          </a:p>
        </p:txBody>
      </p:sp>
      <p:sp>
        <p:nvSpPr>
          <p:cNvPr id="25" name="Text 23"/>
          <p:cNvSpPr/>
          <p:nvPr/>
        </p:nvSpPr>
        <p:spPr>
          <a:xfrm>
            <a:off x="8778240" y="3877056"/>
            <a:ext cx="2834640" cy="841248"/>
          </a:xfrm>
          <a:prstGeom prst="rect">
            <a:avLst/>
          </a:prstGeom>
          <a:noFill/>
          <a:ln/>
        </p:spPr>
        <p:txBody>
          <a:bodyPr wrap="square" lIns="635" tIns="635" rIns="635" bIns="635" rtlCol="0" anchor="ctr"/>
          <a:lstStyle/>
          <a:p>
            <a:pPr indent="0" marL="0">
              <a:lnSpc>
                <a:spcPct val="110000"/>
              </a:lnSpc>
              <a:buNone/>
            </a:pPr>
            <a:r>
              <a:rPr lang="en-US" sz="1100" b="1" dirty="0">
                <a:solidFill>
                  <a:srgbClr val="E24A3B"/>
                </a:solidFill>
                <a:latin typeface="Calibri" pitchFamily="34" charset="0"/>
                <a:ea typeface="Calibri" pitchFamily="34" charset="-122"/>
                <a:cs typeface="Calibri" pitchFamily="34" charset="-120"/>
              </a:rPr>
              <a:t>&gt; 75% user agreement rate</a:t>
            </a:r>
            <a:endParaRPr lang="en-US" sz="1100" dirty="0"/>
          </a:p>
        </p:txBody>
      </p:sp>
      <p:sp>
        <p:nvSpPr>
          <p:cNvPr id="26" name="Shape 24"/>
          <p:cNvSpPr/>
          <p:nvPr/>
        </p:nvSpPr>
        <p:spPr>
          <a:xfrm>
            <a:off x="548640" y="4764024"/>
            <a:ext cx="11064240" cy="841248"/>
          </a:xfrm>
          <a:prstGeom prst="rect">
            <a:avLst/>
          </a:prstGeom>
          <a:solidFill>
            <a:srgbClr val="F4F6FA"/>
          </a:solidFill>
          <a:ln/>
        </p:spPr>
      </p:sp>
      <p:sp>
        <p:nvSpPr>
          <p:cNvPr id="27" name="Shape 25"/>
          <p:cNvSpPr/>
          <p:nvPr/>
        </p:nvSpPr>
        <p:spPr>
          <a:xfrm>
            <a:off x="822960" y="5001768"/>
            <a:ext cx="365760" cy="365760"/>
          </a:xfrm>
          <a:prstGeom prst="ellipse">
            <a:avLst/>
          </a:prstGeom>
          <a:solidFill>
            <a:srgbClr val="2EC4B6"/>
          </a:solidFill>
          <a:ln/>
        </p:spPr>
      </p:sp>
      <p:sp>
        <p:nvSpPr>
          <p:cNvPr id="28" name="Text 26"/>
          <p:cNvSpPr/>
          <p:nvPr/>
        </p:nvSpPr>
        <p:spPr>
          <a:xfrm>
            <a:off x="822960" y="5001768"/>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04</a:t>
            </a:r>
            <a:endParaRPr lang="en-US" sz="1150" dirty="0"/>
          </a:p>
        </p:txBody>
      </p:sp>
      <p:sp>
        <p:nvSpPr>
          <p:cNvPr id="29" name="Text 27"/>
          <p:cNvSpPr/>
          <p:nvPr/>
        </p:nvSpPr>
        <p:spPr>
          <a:xfrm>
            <a:off x="1234440" y="4764024"/>
            <a:ext cx="3063240" cy="841248"/>
          </a:xfrm>
          <a:prstGeom prst="rect">
            <a:avLst/>
          </a:prstGeom>
          <a:noFill/>
          <a:ln/>
        </p:spPr>
        <p:txBody>
          <a:bodyPr wrap="square" lIns="635" tIns="635" rIns="635" bIns="635" rtlCol="0" anchor="ctr"/>
          <a:lstStyle/>
          <a:p>
            <a:pPr indent="0" marL="0">
              <a:lnSpc>
                <a:spcPct val="110000"/>
              </a:lnSpc>
              <a:buNone/>
            </a:pPr>
            <a:r>
              <a:rPr lang="en-US" sz="1200" b="1" dirty="0">
                <a:solidFill>
                  <a:srgbClr val="16234A"/>
                </a:solidFill>
                <a:latin typeface="Calibri" pitchFamily="34" charset="0"/>
                <a:ea typeface="Calibri" pitchFamily="34" charset="-122"/>
                <a:cs typeface="Calibri" pitchFamily="34" charset="-120"/>
              </a:rPr>
              <a:t>Dashboard usability</a:t>
            </a:r>
            <a:endParaRPr lang="en-US" sz="1200" dirty="0"/>
          </a:p>
        </p:txBody>
      </p:sp>
      <p:sp>
        <p:nvSpPr>
          <p:cNvPr id="30" name="Text 28"/>
          <p:cNvSpPr/>
          <p:nvPr/>
        </p:nvSpPr>
        <p:spPr>
          <a:xfrm>
            <a:off x="4480560" y="4764024"/>
            <a:ext cx="4114800" cy="841248"/>
          </a:xfrm>
          <a:prstGeom prst="rect">
            <a:avLst/>
          </a:prstGeom>
          <a:noFill/>
          <a:ln/>
        </p:spPr>
        <p:txBody>
          <a:bodyPr wrap="square" lIns="635" tIns="635" rIns="635" bIns="635" rtlCol="0" anchor="ctr"/>
          <a:lstStyle/>
          <a:p>
            <a:pPr indent="0" marL="0">
              <a:lnSpc>
                <a:spcPct val="110000"/>
              </a:lnSpc>
              <a:buNone/>
            </a:pPr>
            <a:r>
              <a:rPr lang="en-US" sz="1100" dirty="0">
                <a:solidFill>
                  <a:srgbClr val="5A6472"/>
                </a:solidFill>
                <a:latin typeface="Calibri" pitchFamily="34" charset="0"/>
                <a:ea typeface="Calibri" pitchFamily="34" charset="-122"/>
                <a:cs typeface="Calibri" pitchFamily="34" charset="-120"/>
              </a:rPr>
              <a:t>Task-based user testing with sample participants</a:t>
            </a:r>
            <a:endParaRPr lang="en-US" sz="1100" dirty="0"/>
          </a:p>
        </p:txBody>
      </p:sp>
      <p:sp>
        <p:nvSpPr>
          <p:cNvPr id="31" name="Text 29"/>
          <p:cNvSpPr/>
          <p:nvPr/>
        </p:nvSpPr>
        <p:spPr>
          <a:xfrm>
            <a:off x="8778240" y="4764024"/>
            <a:ext cx="2834640" cy="841248"/>
          </a:xfrm>
          <a:prstGeom prst="rect">
            <a:avLst/>
          </a:prstGeom>
          <a:noFill/>
          <a:ln/>
        </p:spPr>
        <p:txBody>
          <a:bodyPr wrap="square" lIns="635" tIns="635" rIns="635" bIns="635" rtlCol="0" anchor="ctr"/>
          <a:lstStyle/>
          <a:p>
            <a:pPr indent="0" marL="0">
              <a:lnSpc>
                <a:spcPct val="110000"/>
              </a:lnSpc>
              <a:buNone/>
            </a:pPr>
            <a:r>
              <a:rPr lang="en-US" sz="1100" b="1" dirty="0">
                <a:solidFill>
                  <a:srgbClr val="E24A3B"/>
                </a:solidFill>
                <a:latin typeface="Calibri" pitchFamily="34" charset="0"/>
                <a:ea typeface="Calibri" pitchFamily="34" charset="-122"/>
                <a:cs typeface="Calibri" pitchFamily="34" charset="-120"/>
              </a:rPr>
              <a:t>Core task completed in &lt; 2 minutes</a:t>
            </a:r>
            <a:endParaRPr lang="en-US" sz="1100" dirty="0"/>
          </a:p>
        </p:txBody>
      </p:sp>
      <p:sp>
        <p:nvSpPr>
          <p:cNvPr id="32" name="Text 30"/>
          <p:cNvSpPr/>
          <p:nvPr/>
        </p:nvSpPr>
        <p:spPr>
          <a:xfrm>
            <a:off x="548640" y="5879592"/>
            <a:ext cx="11064240" cy="548640"/>
          </a:xfrm>
          <a:prstGeom prst="rect">
            <a:avLst/>
          </a:prstGeom>
          <a:noFill/>
          <a:ln/>
        </p:spPr>
        <p:txBody>
          <a:bodyPr wrap="square" lIns="0" tIns="0" rIns="0" bIns="0" rtlCol="0" anchor="ctr"/>
          <a:lstStyle/>
          <a:p>
            <a:pPr indent="0" marL="0">
              <a:buNone/>
            </a:pPr>
            <a:r>
              <a:rPr lang="en-US" sz="1200" i="1" dirty="0">
                <a:solidFill>
                  <a:srgbClr val="5A6472"/>
                </a:solidFill>
                <a:latin typeface="Calibri" pitchFamily="34" charset="0"/>
                <a:ea typeface="Calibri" pitchFamily="34" charset="-122"/>
                <a:cs typeface="Calibri" pitchFamily="34" charset="-120"/>
              </a:rPr>
              <a:t>Ground-truth data for recurrence detection will come from a synthetic bank-statement generator (built with Faker) that bakes in known recurring merchants, so precision and recall can be measured against a verifiable answer key.</a:t>
            </a:r>
            <a:endParaRPr lang="en-US" sz="1200" dirty="0"/>
          </a:p>
        </p:txBody>
      </p:sp>
      <p:sp>
        <p:nvSpPr>
          <p:cNvPr id="33" name="Shape 31"/>
          <p:cNvSpPr/>
          <p:nvPr/>
        </p:nvSpPr>
        <p:spPr>
          <a:xfrm>
            <a:off x="11475720" y="6263640"/>
            <a:ext cx="502920" cy="502920"/>
          </a:xfrm>
          <a:prstGeom prst="ellipse">
            <a:avLst/>
          </a:prstGeom>
          <a:solidFill>
            <a:srgbClr val="16234A"/>
          </a:solidFill>
          <a:ln/>
        </p:spPr>
      </p:sp>
      <p:sp>
        <p:nvSpPr>
          <p:cNvPr id="34" name="Text 32"/>
          <p:cNvSpPr/>
          <p:nvPr/>
        </p:nvSpPr>
        <p:spPr>
          <a:xfrm>
            <a:off x="11475720" y="6263640"/>
            <a:ext cx="502920" cy="502920"/>
          </a:xfrm>
          <a:prstGeom prst="rect">
            <a:avLst/>
          </a:prstGeom>
          <a:noFill/>
          <a:ln/>
        </p:spPr>
        <p:txBody>
          <a:bodyPr wrap="square" lIns="0" tIns="0" rIns="0" bIns="0" rtlCol="0" anchor="ctr"/>
          <a:lstStyle/>
          <a:p>
            <a:pPr algn="ctr" indent="0" marL="0">
              <a:buNone/>
            </a:pPr>
            <a:r>
              <a:rPr lang="en-US" sz="1200" b="1" dirty="0">
                <a:solidFill>
                  <a:srgbClr val="F5A623"/>
                </a:solidFill>
                <a:latin typeface="Cambria" pitchFamily="34" charset="0"/>
                <a:ea typeface="Cambria" pitchFamily="34" charset="-122"/>
                <a:cs typeface="Cambria"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3E"/>
        </a:solidFill>
      </p:bgPr>
    </p:bg>
    <p:spTree>
      <p:nvGrpSpPr>
        <p:cNvPr id="1" name=""/>
        <p:cNvGrpSpPr/>
        <p:nvPr/>
      </p:nvGrpSpPr>
      <p:grpSpPr>
        <a:xfrm>
          <a:off x="0" y="0"/>
          <a:ext cx="0" cy="0"/>
          <a:chOff x="0" y="0"/>
          <a:chExt cx="0" cy="0"/>
        </a:xfrm>
      </p:grpSpPr>
      <p:sp>
        <p:nvSpPr>
          <p:cNvPr id="2" name="Shape 0"/>
          <p:cNvSpPr/>
          <p:nvPr/>
        </p:nvSpPr>
        <p:spPr>
          <a:xfrm rot="1080000">
            <a:off x="-2286000" y="4389120"/>
            <a:ext cx="5486400" cy="10972800"/>
          </a:xfrm>
          <a:prstGeom prst="rect">
            <a:avLst/>
          </a:prstGeom>
          <a:solidFill>
            <a:srgbClr val="12514F"/>
          </a:solidFill>
          <a:ln/>
        </p:spPr>
      </p:sp>
      <p:sp>
        <p:nvSpPr>
          <p:cNvPr id="3" name="Shape 1"/>
          <p:cNvSpPr/>
          <p:nvPr/>
        </p:nvSpPr>
        <p:spPr>
          <a:xfrm>
            <a:off x="5623560" y="960120"/>
            <a:ext cx="914400" cy="914400"/>
          </a:xfrm>
          <a:prstGeom prst="ellipse">
            <a:avLst/>
          </a:prstGeom>
          <a:ln w="76200">
            <a:solidFill>
              <a:srgbClr val="F5A623"/>
            </a:solidFill>
            <a:prstDash val="solid"/>
          </a:ln>
        </p:spPr>
      </p:sp>
      <p:sp>
        <p:nvSpPr>
          <p:cNvPr id="4" name="Shape 2"/>
          <p:cNvSpPr/>
          <p:nvPr/>
        </p:nvSpPr>
        <p:spPr>
          <a:xfrm>
            <a:off x="5897880" y="1234440"/>
            <a:ext cx="365760" cy="365760"/>
          </a:xfrm>
          <a:prstGeom prst="ellipse">
            <a:avLst/>
          </a:prstGeom>
          <a:solidFill>
            <a:srgbClr val="F5A623"/>
          </a:solidFill>
          <a:ln/>
        </p:spPr>
      </p:sp>
      <p:sp>
        <p:nvSpPr>
          <p:cNvPr id="5" name="Text 3"/>
          <p:cNvSpPr/>
          <p:nvPr/>
        </p:nvSpPr>
        <p:spPr>
          <a:xfrm>
            <a:off x="822960" y="2331720"/>
            <a:ext cx="105156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6" name="Text 4"/>
          <p:cNvSpPr/>
          <p:nvPr/>
        </p:nvSpPr>
        <p:spPr>
          <a:xfrm>
            <a:off x="822960" y="3246120"/>
            <a:ext cx="10515600" cy="457200"/>
          </a:xfrm>
          <a:prstGeom prst="rect">
            <a:avLst/>
          </a:prstGeom>
          <a:noFill/>
          <a:ln/>
        </p:spPr>
        <p:txBody>
          <a:bodyPr wrap="square" lIns="0" tIns="0" rIns="0" bIns="0" rtlCol="0" anchor="ctr"/>
          <a:lstStyle/>
          <a:p>
            <a:pPr algn="ctr" indent="0" marL="0">
              <a:buNone/>
            </a:pPr>
            <a:r>
              <a:rPr lang="en-US" sz="1500" i="1" dirty="0">
                <a:solidFill>
                  <a:srgbClr val="F5A623"/>
                </a:solidFill>
                <a:latin typeface="Calibri" pitchFamily="34" charset="0"/>
                <a:ea typeface="Calibri" pitchFamily="34" charset="-122"/>
                <a:cs typeface="Calibri" pitchFamily="34" charset="-120"/>
              </a:rPr>
              <a:t>We look forward to turning everyday bank statements into real financial clarity.</a:t>
            </a:r>
            <a:endParaRPr lang="en-US" sz="1500" dirty="0"/>
          </a:p>
        </p:txBody>
      </p:sp>
      <p:sp>
        <p:nvSpPr>
          <p:cNvPr id="7" name="Text 5"/>
          <p:cNvSpPr/>
          <p:nvPr/>
        </p:nvSpPr>
        <p:spPr>
          <a:xfrm>
            <a:off x="822960" y="5166360"/>
            <a:ext cx="105156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Subscription Leak Detector</a:t>
            </a:r>
            <a:endParaRPr lang="en-US" sz="1200" dirty="0"/>
          </a:p>
        </p:txBody>
      </p:sp>
      <p:sp>
        <p:nvSpPr>
          <p:cNvPr id="8" name="Text 6"/>
          <p:cNvSpPr/>
          <p:nvPr/>
        </p:nvSpPr>
        <p:spPr>
          <a:xfrm>
            <a:off x="822960" y="5486400"/>
            <a:ext cx="10515600" cy="320040"/>
          </a:xfrm>
          <a:prstGeom prst="rect">
            <a:avLst/>
          </a:prstGeom>
          <a:noFill/>
          <a:ln/>
        </p:spPr>
        <p:txBody>
          <a:bodyPr wrap="square" lIns="0" tIns="0" rIns="0" bIns="0" rtlCol="0" anchor="ctr"/>
          <a:lstStyle/>
          <a:p>
            <a:pPr algn="ctr" indent="0" marL="0">
              <a:buNone/>
            </a:pPr>
            <a:r>
              <a:rPr lang="en-US" sz="1200" b="1" dirty="0">
                <a:solidFill>
                  <a:srgbClr val="B9DAD8"/>
                </a:solidFill>
                <a:latin typeface="Calibri" pitchFamily="34" charset="0"/>
                <a:ea typeface="Calibri" pitchFamily="34" charset="-122"/>
                <a:cs typeface="Calibri" pitchFamily="34" charset="-120"/>
              </a:rPr>
              <a:t>Shubh Shekhar Jha   ·   Anchal Paswan   ·   Karma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2026-08-09T21:05:17Z</dcterms:created>
  <dcterms:modified xsi:type="dcterms:W3CDTF">2026-08-09T21:05:17Z</dcterms:modified>
</cp:coreProperties>
</file>